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0D1B2A"/>
                </a:solidFill>
                <a:latin typeface="Arial"/>
              </a:defRPr>
            </a:pPr>
            <a:r>
              <a:rPr sz="1200" b="0" i="0" u="none" strike="noStrike">
                <a:solidFill>
                  <a:srgbClr val="0D1B2A"/>
                </a:solidFill>
                <a:latin typeface="Arial"/>
              </a:rPr>
              <a:t>A* Performance Profile</a:t>
            </a:r>
          </a:p>
        </c:rich>
      </c:tx>
      <c:layout/>
      <c:overlay val="0"/>
    </c:title>
    <c:autoTitleDeleted val="0"/>
    <c:plotArea>
      <c:layout/>
      <c:barChart>
        <c:barDir val="bar"/>
        <c:grouping val="clustered"/>
        <c:varyColors val="0"/>
        <c:ser>
          <c:idx val="0"/>
          <c:order val="0"/>
          <c:tx>
            <c:strRef>
              <c:f>Sheet1!$B$1</c:f>
              <c:strCache>
                <c:ptCount val="1"/>
                <c:pt idx="0">
                  <c:v>Score (higher = better, 1–5 scale)</c:v>
                </c:pt>
              </c:strCache>
            </c:strRef>
          </c:tx>
          <c:spPr>
            <a:solidFill>
              <a:srgbClr val="1ABC9C"/>
            </a:solidFill>
            <a:effectLst/>
          </c:spPr>
          <c:invertIfNegative val="0"/>
          <c:dLbls>
            <c:numFmt formatCode="#,##0" sourceLinked="0"/>
            <c:txPr>
              <a:bodyPr/>
              <a:lstStyle/>
              <a:p>
                <a:pPr>
                  <a:defRPr b="0" i="0" strike="noStrike" sz="1200" u="none">
                    <a:solidFill>
                      <a:srgbClr val="0D1B2A"/>
                    </a:solidFill>
                    <a:latin typeface="Arial"/>
                  </a:defRPr>
                </a:pPr>
              </a:p>
            </c:txPr>
            <c:showLegendKey val="0"/>
            <c:showVal val="1"/>
            <c:showCatName val="0"/>
            <c:showSerName val="0"/>
            <c:showPercent val="0"/>
            <c:showBubbleSize val="0"/>
            <c:showLeaderLines val="0"/>
          </c:dLbls>
          <c:cat>
            <c:multiLvlStrRef>
              <c:f>Sheet1!$A$2:$A$6</c:f>
              <c:multiLvlStrCache>
                <c:ptCount val="5"/>
                <c:lvl>
                  <c:pt idx="0">
                    <c:v>Optimality</c:v>
                  </c:pt>
                  <c:pt idx="1">
                    <c:v>Node Efficiency</c:v>
                  </c:pt>
                  <c:pt idx="2">
                    <c:v>Emergency Fit</c:v>
                  </c:pt>
                  <c:pt idx="3">
                    <c:v>Traffic Handling</c:v>
                  </c:pt>
                  <c:pt idx="4">
                    <c:v>Implementation</c:v>
                  </c:pt>
                </c:lvl>
              </c:multiLvlStrCache>
            </c:multiLvlStrRef>
          </c:cat>
          <c:val>
            <c:numRef>
              <c:f>Sheet1!$B$2:$B$6</c:f>
              <c:numCache>
                <c:formatCode>General</c:formatCode>
                <c:ptCount val="5"/>
                <c:pt idx="0">
                  <c:v>5</c:v>
                </c:pt>
                <c:pt idx="1">
                  <c:v>4</c:v>
                </c:pt>
                <c:pt idx="2">
                  <c:v>5</c:v>
                </c:pt>
                <c:pt idx="3">
                  <c:v>5</c:v>
                </c:pt>
                <c:pt idx="4">
                  <c:v>3</c:v>
                </c:pt>
              </c:numCache>
            </c:numRef>
          </c:val>
        </c:ser>
        <c:dLbls>
          <c:numFmt formatCode="#,##0" sourceLinked="0"/>
          <c:txPr>
            <a:bodyPr/>
            <a:lstStyle/>
            <a:p>
              <a:pPr>
                <a:defRPr b="0" i="0" strike="noStrike" sz="1200" u="none">
                  <a:solidFill>
                    <a:srgbClr val="0D1B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D1B2A"/>
                </a:solidFill>
                <a:latin typeface="Arial"/>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D6D7E"/>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4F6F8"/>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 I'll present the algorithmic analysis for the Cairo Transportation System, focusing on A* search — the algorithm at the heart of both our standard route planning and emergency routing module. Over the next 12 minutes I'll cover formal foundations, correctness proofs, complexity analysis, and real comparisons against Dijkstra and Greedy.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Cairo transportation graph includes neighborhoods, hospitals, schools, and infrastructure nodes connected by weighted road edges. Traffic conditions modify edge weights dynamically. A brute-force search is impractical — we need an algorithm that exploits geographic structure to guide the search intelligently.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implements all three algorithms on the same graph. Greedy failed on several test cases — returning paths 15–30% longer than optimal. Dijkstra is always correct but expands nodes in all directions. A* matches Dijkstra's output while visiting significantly fewer nodes. The comparison page in our system demonstrates this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f(n) determines priority queue ordering — always expand the node with lowest f. g(n) is known exactly; h(n) is estimated using Euclidean distance between geographic coordinates. Admissibility: straight-line distance never overestimates actual road distance. Consistency: Euclidean distance satisfies the triangle inequality — the geometric equivalent of the consistency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implementation notes: The open set is a min-heap on f values. g[ ] is initialized to infinity. We terminate when the goal is extracted from the heap — not when it is first seen — because a later path might be cheaper. Consistency of the heuristic guarantees that first extraction equals optimal cost, so no node needs re-expansion. RECONSTRUCT_PATH follows parent pointers back from goal to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classic Hart-Nilsson-Raphael 1968 proof. The key insight is that admissibility creates a lower-bound guarantee — the heuristic cannot mislead us into skipping the optimal path. Consistency (the stronger condition) ensures f is monotonically non-decreasing, allowing us to safely skip re-expansion. Since Euclidean distance satisfies the triangle inequality, our heuristic is consistent and therefore admissible.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Worst-case matches Dijkstra because with h=0, A* IS Dijkstra. The practical benefit comes from the heuristic reducing effective search space. b is typically 3–5 in our Cairo graph. We do not cite exact node-count numbers here because that requires controlled benchmarking — but the comparison page qualitatively demonstrates this reduction.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emergency routing module uses this weight modification. Roads designated as emergency corridors or currently less congested get an effectively lower weight. A* routes through them naturally. This is an important design decision: we modified the graph representation, not the algorithm. If we had increased non-emergency road weights instead, we would need to re-verify admissibility — our design deliberately avoids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Flask application exposes a routing endpoint taking source and destination node IDs. The backend constructs the graph from our Cairo dataset, runs A*, Dijkstra, and Greedy, and returns all three results for display. Emergency routing calls the priority-aware A* variant with a priority factor parameter. The comparison page runs controlled experiments and reports which algorithm expands fewer nodes and finds shorter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chart shows A*'s qualitative profile across five dimensions, scored 1–5 for illustration. Greedy fails on optimality and traffic handling. Dijkstra is optimal but unexploits geographic structure. A* is the only algorithm scoring well across all dimensions. The comparison page in our system provides empirical evidence of the node efficiency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A* gave us the best balance of correctness and efficiency for routing in the Cairo transportation graph. Its optimality is mathematically provable. The emergency routing extension required only a principled graph modification — not an algorithm change. The broader lesson: algorithm selection is a design decision. Greedy was fast but wrong. Dijkstra was correct but uninformed. A* was both — because we had geographic coordinates that made a good heuristic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1ABC9C"/>
          </a:solidFill>
          <a:ln w="12700">
            <a:solidFill>
              <a:srgbClr val="1ABC9C"/>
            </a:solidFill>
            <a:prstDash val="solid"/>
          </a:ln>
        </p:spPr>
      </p:sp>
      <p:sp>
        <p:nvSpPr>
          <p:cNvPr id="3" name="Text 1"/>
          <p:cNvSpPr/>
          <p:nvPr/>
        </p:nvSpPr>
        <p:spPr>
          <a:xfrm>
            <a:off x="548640" y="640080"/>
            <a:ext cx="8412480" cy="914400"/>
          </a:xfrm>
          <a:prstGeom prst="rect">
            <a:avLst/>
          </a:prstGeom>
          <a:noFill/>
          <a:ln/>
        </p:spPr>
        <p:txBody>
          <a:bodyPr wrap="square" lIns="0" tIns="0" rIns="0" bIns="0" rtlCol="0" anchor="ctr"/>
          <a:lstStyle/>
          <a:p>
            <a:pPr algn="l" indent="0" marL="0">
              <a:buNone/>
            </a:pPr>
            <a:r>
              <a:rPr lang="en-US" sz="4200" b="1" dirty="0">
                <a:solidFill>
                  <a:srgbClr val="FFFFFF"/>
                </a:solidFill>
                <a:latin typeface="Calibri" pitchFamily="34" charset="0"/>
                <a:ea typeface="Calibri" pitchFamily="34" charset="-122"/>
                <a:cs typeface="Calibri" pitchFamily="34" charset="-120"/>
              </a:rPr>
              <a:t>A* Search in Cairo</a:t>
            </a:r>
            <a:endParaRPr lang="en-US" sz="4200" dirty="0"/>
          </a:p>
        </p:txBody>
      </p:sp>
      <p:sp>
        <p:nvSpPr>
          <p:cNvPr id="4" name="Text 2"/>
          <p:cNvSpPr/>
          <p:nvPr/>
        </p:nvSpPr>
        <p:spPr>
          <a:xfrm>
            <a:off x="548640" y="1508760"/>
            <a:ext cx="8412480" cy="822960"/>
          </a:xfrm>
          <a:prstGeom prst="rect">
            <a:avLst/>
          </a:prstGeom>
          <a:noFill/>
          <a:ln/>
        </p:spPr>
        <p:txBody>
          <a:bodyPr wrap="square" lIns="0" tIns="0" rIns="0" bIns="0" rtlCol="0" anchor="ctr"/>
          <a:lstStyle/>
          <a:p>
            <a:pPr algn="l" indent="0" marL="0">
              <a:buNone/>
            </a:pPr>
            <a:r>
              <a:rPr lang="en-US" sz="3600" b="1" dirty="0">
                <a:solidFill>
                  <a:srgbClr val="1ABC9C"/>
                </a:solidFill>
                <a:latin typeface="Calibri" pitchFamily="34" charset="0"/>
                <a:ea typeface="Calibri" pitchFamily="34" charset="-122"/>
                <a:cs typeface="Calibri" pitchFamily="34" charset="-120"/>
              </a:rPr>
              <a:t>Transportation Optimization</a:t>
            </a:r>
            <a:endParaRPr lang="en-US" sz="3600" dirty="0"/>
          </a:p>
        </p:txBody>
      </p:sp>
      <p:sp>
        <p:nvSpPr>
          <p:cNvPr id="5" name="Shape 3"/>
          <p:cNvSpPr/>
          <p:nvPr/>
        </p:nvSpPr>
        <p:spPr>
          <a:xfrm>
            <a:off x="548640" y="2377440"/>
            <a:ext cx="4114800" cy="27432"/>
          </a:xfrm>
          <a:prstGeom prst="rect">
            <a:avLst/>
          </a:prstGeom>
          <a:solidFill>
            <a:srgbClr val="BDC3C7"/>
          </a:solidFill>
          <a:ln w="12700">
            <a:solidFill>
              <a:srgbClr val="BDC3C7"/>
            </a:solidFill>
            <a:prstDash val="solid"/>
          </a:ln>
        </p:spPr>
      </p:sp>
      <p:sp>
        <p:nvSpPr>
          <p:cNvPr id="6" name="Text 4"/>
          <p:cNvSpPr/>
          <p:nvPr/>
        </p:nvSpPr>
        <p:spPr>
          <a:xfrm>
            <a:off x="548640" y="2560320"/>
            <a:ext cx="1188720" cy="347472"/>
          </a:xfrm>
          <a:prstGeom prst="rect">
            <a:avLst/>
          </a:prstGeom>
          <a:noFill/>
          <a:ln/>
        </p:spPr>
        <p:txBody>
          <a:bodyPr wrap="square" lIns="0" tIns="0" rIns="0" bIns="0" rtlCol="0" anchor="ctr"/>
          <a:lstStyle/>
          <a:p>
            <a:pPr algn="l" indent="0" marL="0">
              <a:buNone/>
            </a:pPr>
            <a:r>
              <a:rPr lang="en-US" sz="900" b="1" spc="100" kern="0" dirty="0">
                <a:solidFill>
                  <a:srgbClr val="1ABC9C"/>
                </a:solidFill>
                <a:latin typeface="Calibri" pitchFamily="34" charset="0"/>
                <a:ea typeface="Calibri" pitchFamily="34" charset="-122"/>
                <a:cs typeface="Calibri" pitchFamily="34" charset="-120"/>
              </a:rPr>
              <a:t>COURSE  </a:t>
            </a:r>
            <a:endParaRPr lang="en-US" sz="900" dirty="0"/>
          </a:p>
        </p:txBody>
      </p:sp>
      <p:sp>
        <p:nvSpPr>
          <p:cNvPr id="7" name="Text 5"/>
          <p:cNvSpPr/>
          <p:nvPr/>
        </p:nvSpPr>
        <p:spPr>
          <a:xfrm>
            <a:off x="1691640" y="2560320"/>
            <a:ext cx="6858000" cy="347472"/>
          </a:xfrm>
          <a:prstGeom prst="rect">
            <a:avLst/>
          </a:prstGeom>
          <a:noFill/>
          <a:ln/>
        </p:spPr>
        <p:txBody>
          <a:bodyPr wrap="square" lIns="0" tIns="0" rIns="0" bIns="0" rtlCol="0" anchor="ctr"/>
          <a:lstStyle/>
          <a:p>
            <a:pPr algn="l" indent="0" marL="0">
              <a:buNone/>
            </a:pPr>
            <a:r>
              <a:rPr lang="en-US" sz="1200" dirty="0">
                <a:solidFill>
                  <a:srgbClr val="BDC3C7"/>
                </a:solidFill>
                <a:latin typeface="Calibri" pitchFamily="34" charset="0"/>
                <a:ea typeface="Calibri" pitchFamily="34" charset="-122"/>
                <a:cs typeface="Calibri" pitchFamily="34" charset="-120"/>
              </a:rPr>
              <a:t>CSE112 — Design and Analysis of Algorithms</a:t>
            </a:r>
            <a:endParaRPr lang="en-US" sz="1200" dirty="0"/>
          </a:p>
        </p:txBody>
      </p:sp>
      <p:sp>
        <p:nvSpPr>
          <p:cNvPr id="8" name="Text 6"/>
          <p:cNvSpPr/>
          <p:nvPr/>
        </p:nvSpPr>
        <p:spPr>
          <a:xfrm>
            <a:off x="548640" y="2962656"/>
            <a:ext cx="1188720" cy="347472"/>
          </a:xfrm>
          <a:prstGeom prst="rect">
            <a:avLst/>
          </a:prstGeom>
          <a:noFill/>
          <a:ln/>
        </p:spPr>
        <p:txBody>
          <a:bodyPr wrap="square" lIns="0" tIns="0" rIns="0" bIns="0" rtlCol="0" anchor="ctr"/>
          <a:lstStyle/>
          <a:p>
            <a:pPr algn="l" indent="0" marL="0">
              <a:buNone/>
            </a:pPr>
            <a:r>
              <a:rPr lang="en-US" sz="900" b="1" spc="100" kern="0" dirty="0">
                <a:solidFill>
                  <a:srgbClr val="1ABC9C"/>
                </a:solidFill>
                <a:latin typeface="Calibri" pitchFamily="34" charset="0"/>
                <a:ea typeface="Calibri" pitchFamily="34" charset="-122"/>
                <a:cs typeface="Calibri" pitchFamily="34" charset="-120"/>
              </a:rPr>
              <a:t>PROJECT  </a:t>
            </a:r>
            <a:endParaRPr lang="en-US" sz="900" dirty="0"/>
          </a:p>
        </p:txBody>
      </p:sp>
      <p:sp>
        <p:nvSpPr>
          <p:cNvPr id="9" name="Text 7"/>
          <p:cNvSpPr/>
          <p:nvPr/>
        </p:nvSpPr>
        <p:spPr>
          <a:xfrm>
            <a:off x="1691640" y="2962656"/>
            <a:ext cx="6858000" cy="347472"/>
          </a:xfrm>
          <a:prstGeom prst="rect">
            <a:avLst/>
          </a:prstGeom>
          <a:noFill/>
          <a:ln/>
        </p:spPr>
        <p:txBody>
          <a:bodyPr wrap="square" lIns="0" tIns="0" rIns="0" bIns="0" rtlCol="0" anchor="ctr"/>
          <a:lstStyle/>
          <a:p>
            <a:pPr algn="l" indent="0" marL="0">
              <a:buNone/>
            </a:pPr>
            <a:r>
              <a:rPr lang="en-US" sz="1200" dirty="0">
                <a:solidFill>
                  <a:srgbClr val="BDC3C7"/>
                </a:solidFill>
                <a:latin typeface="Calibri" pitchFamily="34" charset="0"/>
                <a:ea typeface="Calibri" pitchFamily="34" charset="-122"/>
                <a:cs typeface="Calibri" pitchFamily="34" charset="-120"/>
              </a:rPr>
              <a:t>Cairo Transportation System</a:t>
            </a:r>
            <a:endParaRPr lang="en-US" sz="1200" dirty="0"/>
          </a:p>
        </p:txBody>
      </p:sp>
      <p:sp>
        <p:nvSpPr>
          <p:cNvPr id="10" name="Text 8"/>
          <p:cNvSpPr/>
          <p:nvPr/>
        </p:nvSpPr>
        <p:spPr>
          <a:xfrm>
            <a:off x="548640" y="3364992"/>
            <a:ext cx="1188720" cy="347472"/>
          </a:xfrm>
          <a:prstGeom prst="rect">
            <a:avLst/>
          </a:prstGeom>
          <a:noFill/>
          <a:ln/>
        </p:spPr>
        <p:txBody>
          <a:bodyPr wrap="square" lIns="0" tIns="0" rIns="0" bIns="0" rtlCol="0" anchor="ctr"/>
          <a:lstStyle/>
          <a:p>
            <a:pPr algn="l" indent="0" marL="0">
              <a:buNone/>
            </a:pPr>
            <a:r>
              <a:rPr lang="en-US" sz="900" b="1" spc="100" kern="0" dirty="0">
                <a:solidFill>
                  <a:srgbClr val="1ABC9C"/>
                </a:solidFill>
                <a:latin typeface="Calibri" pitchFamily="34" charset="0"/>
                <a:ea typeface="Calibri" pitchFamily="34" charset="-122"/>
                <a:cs typeface="Calibri" pitchFamily="34" charset="-120"/>
              </a:rPr>
              <a:t>FOCUS  </a:t>
            </a:r>
            <a:endParaRPr lang="en-US" sz="900" dirty="0"/>
          </a:p>
        </p:txBody>
      </p:sp>
      <p:sp>
        <p:nvSpPr>
          <p:cNvPr id="11" name="Text 9"/>
          <p:cNvSpPr/>
          <p:nvPr/>
        </p:nvSpPr>
        <p:spPr>
          <a:xfrm>
            <a:off x="1691640" y="3364992"/>
            <a:ext cx="6858000" cy="347472"/>
          </a:xfrm>
          <a:prstGeom prst="rect">
            <a:avLst/>
          </a:prstGeom>
          <a:noFill/>
          <a:ln/>
        </p:spPr>
        <p:txBody>
          <a:bodyPr wrap="square" lIns="0" tIns="0" rIns="0" bIns="0" rtlCol="0" anchor="ctr"/>
          <a:lstStyle/>
          <a:p>
            <a:pPr algn="l" indent="0" marL="0">
              <a:buNone/>
            </a:pPr>
            <a:r>
              <a:rPr lang="en-US" sz="1200" dirty="0">
                <a:solidFill>
                  <a:srgbClr val="BDC3C7"/>
                </a:solidFill>
                <a:latin typeface="Calibri" pitchFamily="34" charset="0"/>
                <a:ea typeface="Calibri" pitchFamily="34" charset="-122"/>
                <a:cs typeface="Calibri" pitchFamily="34" charset="-120"/>
              </a:rPr>
              <a:t>A* Shortest Path &amp; Priority-Aware A*</a:t>
            </a:r>
            <a:endParaRPr lang="en-US" sz="1200" dirty="0"/>
          </a:p>
        </p:txBody>
      </p:sp>
      <p:sp>
        <p:nvSpPr>
          <p:cNvPr id="12" name="Shape 10"/>
          <p:cNvSpPr/>
          <p:nvPr/>
        </p:nvSpPr>
        <p:spPr>
          <a:xfrm>
            <a:off x="6858000" y="1097280"/>
            <a:ext cx="1371600" cy="1371600"/>
          </a:xfrm>
          <a:prstGeom prst="ellipse">
            <a:avLst/>
          </a:prstGeom>
          <a:solidFill>
            <a:srgbClr val="1B4F72">
              <a:alpha val="40000"/>
            </a:srgbClr>
          </a:solidFill>
          <a:ln w="12700">
            <a:solidFill>
              <a:srgbClr val="1B4F72">
                <a:alpha val="40000"/>
              </a:srgbClr>
            </a:solidFill>
            <a:prstDash val="solid"/>
          </a:ln>
        </p:spPr>
      </p:sp>
      <p:sp>
        <p:nvSpPr>
          <p:cNvPr id="13" name="Shape 11"/>
          <p:cNvSpPr/>
          <p:nvPr/>
        </p:nvSpPr>
        <p:spPr>
          <a:xfrm>
            <a:off x="7498080" y="2011680"/>
            <a:ext cx="914400" cy="914400"/>
          </a:xfrm>
          <a:prstGeom prst="ellipse">
            <a:avLst/>
          </a:prstGeom>
          <a:solidFill>
            <a:srgbClr val="1ABC9C">
              <a:alpha val="70000"/>
            </a:srgbClr>
          </a:solidFill>
          <a:ln w="12700">
            <a:solidFill>
              <a:srgbClr val="1ABC9C">
                <a:alpha val="70000"/>
              </a:srgbClr>
            </a:solidFill>
            <a:prstDash val="solid"/>
          </a:ln>
        </p:spPr>
      </p:sp>
      <p:sp>
        <p:nvSpPr>
          <p:cNvPr id="14" name="Shape 12"/>
          <p:cNvSpPr/>
          <p:nvPr/>
        </p:nvSpPr>
        <p:spPr>
          <a:xfrm>
            <a:off x="6400800" y="2560320"/>
            <a:ext cx="731520" cy="731520"/>
          </a:xfrm>
          <a:prstGeom prst="ellipse">
            <a:avLst/>
          </a:prstGeom>
          <a:solidFill>
            <a:srgbClr val="1B4F72">
              <a:alpha val="60000"/>
            </a:srgbClr>
          </a:solidFill>
          <a:ln w="12700">
            <a:solidFill>
              <a:srgbClr val="1B4F72">
                <a:alpha val="60000"/>
              </a:srgbClr>
            </a:solidFill>
            <a:prstDash val="solid"/>
          </a:ln>
        </p:spPr>
      </p:sp>
      <p:pic>
        <p:nvPicPr>
          <p:cNvPr id="15" name="Image 0" descr="preencoded.png">    </p:cNvPr>
          <p:cNvPicPr>
            <a:picLocks noChangeAspect="1"/>
          </p:cNvPicPr>
          <p:nvPr/>
        </p:nvPicPr>
        <p:blipFill>
          <a:blip r:embed="rId1"/>
          <a:stretch>
            <a:fillRect/>
          </a:stretch>
        </p:blipFill>
        <p:spPr>
          <a:xfrm>
            <a:off x="7315200" y="1645920"/>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457200" y="164592"/>
            <a:ext cx="8229600" cy="548640"/>
          </a:xfrm>
          <a:prstGeom prst="rect">
            <a:avLst/>
          </a:prstGeom>
          <a:noFill/>
          <a:ln/>
        </p:spPr>
        <p:txBody>
          <a:bodyPr wrap="square" lIns="0" tIns="0" rIns="0" bIns="0" rtlCol="0" anchor="ctr"/>
          <a:lstStyle/>
          <a:p>
            <a:pPr algn="l" indent="0" marL="0">
              <a:buNone/>
            </a:pPr>
            <a:r>
              <a:rPr lang="en-US" sz="2800" b="1" dirty="0">
                <a:solidFill>
                  <a:srgbClr val="0D1B2A"/>
                </a:solidFill>
                <a:latin typeface="Calibri" pitchFamily="34" charset="0"/>
                <a:ea typeface="Calibri" pitchFamily="34" charset="-122"/>
                <a:cs typeface="Calibri" pitchFamily="34" charset="-120"/>
              </a:rPr>
              <a:t>Problem Statement</a:t>
            </a:r>
            <a:endParaRPr lang="en-US" sz="2800" dirty="0"/>
          </a:p>
        </p:txBody>
      </p:sp>
      <p:sp>
        <p:nvSpPr>
          <p:cNvPr id="3" name="Text 1"/>
          <p:cNvSpPr/>
          <p:nvPr/>
        </p:nvSpPr>
        <p:spPr>
          <a:xfrm>
            <a:off x="457200" y="685800"/>
            <a:ext cx="8229600" cy="274320"/>
          </a:xfrm>
          <a:prstGeom prst="rect">
            <a:avLst/>
          </a:prstGeom>
          <a:noFill/>
          <a:ln/>
        </p:spPr>
        <p:txBody>
          <a:bodyPr wrap="square" lIns="0" tIns="0" rIns="0" bIns="0" rtlCol="0" anchor="ctr"/>
          <a:lstStyle/>
          <a:p>
            <a:pPr indent="0" marL="0">
              <a:buNone/>
            </a:pPr>
            <a:r>
              <a:rPr lang="en-US" sz="1200" i="1" dirty="0">
                <a:solidFill>
                  <a:srgbClr val="5D6D7E"/>
                </a:solidFill>
                <a:latin typeface="Calibri" pitchFamily="34" charset="0"/>
                <a:ea typeface="Calibri" pitchFamily="34" charset="-122"/>
                <a:cs typeface="Calibri" pitchFamily="34" charset="-120"/>
              </a:rPr>
              <a:t>Why do we need an intelligent routing algorithm?</a:t>
            </a:r>
            <a:endParaRPr lang="en-US" sz="1200" dirty="0"/>
          </a:p>
        </p:txBody>
      </p:sp>
      <p:sp>
        <p:nvSpPr>
          <p:cNvPr id="4" name="Shape 2"/>
          <p:cNvSpPr/>
          <p:nvPr/>
        </p:nvSpPr>
        <p:spPr>
          <a:xfrm>
            <a:off x="457200" y="960120"/>
            <a:ext cx="8229600" cy="22860"/>
          </a:xfrm>
          <a:prstGeom prst="rect">
            <a:avLst/>
          </a:prstGeom>
          <a:solidFill>
            <a:srgbClr val="1ABC9C"/>
          </a:solidFill>
          <a:ln w="12700">
            <a:solidFill>
              <a:srgbClr val="1ABC9C"/>
            </a:solidFill>
            <a:prstDash val="solid"/>
          </a:ln>
        </p:spPr>
      </p:sp>
      <p:sp>
        <p:nvSpPr>
          <p:cNvPr id="5" name="Shape 3"/>
          <p:cNvSpPr/>
          <p:nvPr/>
        </p:nvSpPr>
        <p:spPr>
          <a:xfrm>
            <a:off x="457200" y="1143000"/>
            <a:ext cx="4937760" cy="1005840"/>
          </a:xfrm>
          <a:prstGeom prst="rect">
            <a:avLst/>
          </a:prstGeom>
          <a:solidFill>
            <a:srgbClr val="FFFFFF"/>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57200" y="1143000"/>
            <a:ext cx="64008" cy="1005840"/>
          </a:xfrm>
          <a:prstGeom prst="rect">
            <a:avLst/>
          </a:prstGeom>
          <a:solidFill>
            <a:srgbClr val="1ABC9C"/>
          </a:solidFill>
          <a:ln w="12700">
            <a:solidFill>
              <a:srgbClr val="1ABC9C"/>
            </a:solidFill>
            <a:prstDash val="solid"/>
          </a:ln>
        </p:spPr>
      </p:sp>
      <p:pic>
        <p:nvPicPr>
          <p:cNvPr id="7" name="Image 0" descr="preencoded.png">    </p:cNvPr>
          <p:cNvPicPr>
            <a:picLocks noChangeAspect="1"/>
          </p:cNvPicPr>
          <p:nvPr/>
        </p:nvPicPr>
        <p:blipFill>
          <a:blip r:embed="rId1"/>
          <a:stretch>
            <a:fillRect/>
          </a:stretch>
        </p:blipFill>
        <p:spPr>
          <a:xfrm>
            <a:off x="685800" y="1399032"/>
            <a:ext cx="411480" cy="411480"/>
          </a:xfrm>
          <a:prstGeom prst="rect">
            <a:avLst/>
          </a:prstGeom>
        </p:spPr>
      </p:pic>
      <p:sp>
        <p:nvSpPr>
          <p:cNvPr id="8" name="Text 5"/>
          <p:cNvSpPr/>
          <p:nvPr/>
        </p:nvSpPr>
        <p:spPr>
          <a:xfrm>
            <a:off x="1234440" y="1234440"/>
            <a:ext cx="4023360" cy="347472"/>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Complex Urban Graph</a:t>
            </a:r>
            <a:endParaRPr lang="en-US" sz="1300" dirty="0"/>
          </a:p>
        </p:txBody>
      </p:sp>
      <p:sp>
        <p:nvSpPr>
          <p:cNvPr id="9" name="Text 6"/>
          <p:cNvSpPr/>
          <p:nvPr/>
        </p:nvSpPr>
        <p:spPr>
          <a:xfrm>
            <a:off x="1234440" y="1581912"/>
            <a:ext cx="4023360" cy="502920"/>
          </a:xfrm>
          <a:prstGeom prst="rect">
            <a:avLst/>
          </a:prstGeom>
          <a:noFill/>
          <a:ln/>
        </p:spPr>
        <p:txBody>
          <a:bodyPr wrap="square" lIns="0" tIns="0" rIns="0" bIns="0" rtlCol="0" anchor="ctr"/>
          <a:lstStyle/>
          <a:p>
            <a:pPr indent="0" marL="0">
              <a:buNone/>
            </a:pPr>
            <a:r>
              <a:rPr lang="en-US" sz="1000" dirty="0">
                <a:solidFill>
                  <a:srgbClr val="5D6D7E"/>
                </a:solidFill>
                <a:latin typeface="Calibri" pitchFamily="34" charset="0"/>
                <a:ea typeface="Calibri" pitchFamily="34" charset="-122"/>
                <a:cs typeface="Calibri" pitchFamily="34" charset="-120"/>
              </a:rPr>
              <a:t>Hundreds of neighborhoods, facilities, and road segments with varying traffic weights</a:t>
            </a:r>
            <a:endParaRPr lang="en-US" sz="1000" dirty="0"/>
          </a:p>
        </p:txBody>
      </p:sp>
      <p:sp>
        <p:nvSpPr>
          <p:cNvPr id="10" name="Shape 7"/>
          <p:cNvSpPr/>
          <p:nvPr/>
        </p:nvSpPr>
        <p:spPr>
          <a:xfrm>
            <a:off x="457200" y="2331720"/>
            <a:ext cx="4937760" cy="1005840"/>
          </a:xfrm>
          <a:prstGeom prst="rect">
            <a:avLst/>
          </a:prstGeom>
          <a:solidFill>
            <a:srgbClr val="FFFFFF"/>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11" name="Shape 8"/>
          <p:cNvSpPr/>
          <p:nvPr/>
        </p:nvSpPr>
        <p:spPr>
          <a:xfrm>
            <a:off x="457200" y="2331720"/>
            <a:ext cx="64008" cy="1005840"/>
          </a:xfrm>
          <a:prstGeom prst="rect">
            <a:avLst/>
          </a:prstGeom>
          <a:solidFill>
            <a:srgbClr val="1ABC9C"/>
          </a:solidFill>
          <a:ln w="12700">
            <a:solidFill>
              <a:srgbClr val="1ABC9C"/>
            </a:solidFill>
            <a:prstDash val="solid"/>
          </a:ln>
        </p:spPr>
      </p:sp>
      <p:pic>
        <p:nvPicPr>
          <p:cNvPr id="12" name="Image 1" descr="preencoded.png">    </p:cNvPr>
          <p:cNvPicPr>
            <a:picLocks noChangeAspect="1"/>
          </p:cNvPicPr>
          <p:nvPr/>
        </p:nvPicPr>
        <p:blipFill>
          <a:blip r:embed="rId2"/>
          <a:stretch>
            <a:fillRect/>
          </a:stretch>
        </p:blipFill>
        <p:spPr>
          <a:xfrm>
            <a:off x="685800" y="2587752"/>
            <a:ext cx="411480" cy="411480"/>
          </a:xfrm>
          <a:prstGeom prst="rect">
            <a:avLst/>
          </a:prstGeom>
        </p:spPr>
      </p:pic>
      <p:sp>
        <p:nvSpPr>
          <p:cNvPr id="13" name="Text 9"/>
          <p:cNvSpPr/>
          <p:nvPr/>
        </p:nvSpPr>
        <p:spPr>
          <a:xfrm>
            <a:off x="1234440" y="2423160"/>
            <a:ext cx="4023360" cy="347472"/>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Time-Critical Routing</a:t>
            </a:r>
            <a:endParaRPr lang="en-US" sz="1300" dirty="0"/>
          </a:p>
        </p:txBody>
      </p:sp>
      <p:sp>
        <p:nvSpPr>
          <p:cNvPr id="14" name="Text 10"/>
          <p:cNvSpPr/>
          <p:nvPr/>
        </p:nvSpPr>
        <p:spPr>
          <a:xfrm>
            <a:off x="1234440" y="2770632"/>
            <a:ext cx="4023360" cy="502920"/>
          </a:xfrm>
          <a:prstGeom prst="rect">
            <a:avLst/>
          </a:prstGeom>
          <a:noFill/>
          <a:ln/>
        </p:spPr>
        <p:txBody>
          <a:bodyPr wrap="square" lIns="0" tIns="0" rIns="0" bIns="0" rtlCol="0" anchor="ctr"/>
          <a:lstStyle/>
          <a:p>
            <a:pPr indent="0" marL="0">
              <a:buNone/>
            </a:pPr>
            <a:r>
              <a:rPr lang="en-US" sz="1000" dirty="0">
                <a:solidFill>
                  <a:srgbClr val="5D6D7E"/>
                </a:solidFill>
                <a:latin typeface="Calibri" pitchFamily="34" charset="0"/>
                <a:ea typeface="Calibri" pitchFamily="34" charset="-122"/>
                <a:cs typeface="Calibri" pitchFamily="34" charset="-120"/>
              </a:rPr>
              <a:t>Emergency vehicles and real-time navigation require fast, optimal path finding</a:t>
            </a:r>
            <a:endParaRPr lang="en-US" sz="1000" dirty="0"/>
          </a:p>
        </p:txBody>
      </p:sp>
      <p:sp>
        <p:nvSpPr>
          <p:cNvPr id="15" name="Shape 11"/>
          <p:cNvSpPr/>
          <p:nvPr/>
        </p:nvSpPr>
        <p:spPr>
          <a:xfrm>
            <a:off x="457200" y="3520440"/>
            <a:ext cx="4937760" cy="1005840"/>
          </a:xfrm>
          <a:prstGeom prst="rect">
            <a:avLst/>
          </a:prstGeom>
          <a:solidFill>
            <a:srgbClr val="FFFFFF"/>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16" name="Shape 12"/>
          <p:cNvSpPr/>
          <p:nvPr/>
        </p:nvSpPr>
        <p:spPr>
          <a:xfrm>
            <a:off x="457200" y="3520440"/>
            <a:ext cx="64008" cy="1005840"/>
          </a:xfrm>
          <a:prstGeom prst="rect">
            <a:avLst/>
          </a:prstGeom>
          <a:solidFill>
            <a:srgbClr val="1ABC9C"/>
          </a:solidFill>
          <a:ln w="12700">
            <a:solidFill>
              <a:srgbClr val="1ABC9C"/>
            </a:solidFill>
            <a:prstDash val="solid"/>
          </a:ln>
        </p:spPr>
      </p:sp>
      <p:pic>
        <p:nvPicPr>
          <p:cNvPr id="17" name="Image 2" descr="preencoded.png">    </p:cNvPr>
          <p:cNvPicPr>
            <a:picLocks noChangeAspect="1"/>
          </p:cNvPicPr>
          <p:nvPr/>
        </p:nvPicPr>
        <p:blipFill>
          <a:blip r:embed="rId3"/>
          <a:stretch>
            <a:fillRect/>
          </a:stretch>
        </p:blipFill>
        <p:spPr>
          <a:xfrm>
            <a:off x="685800" y="3776472"/>
            <a:ext cx="411480" cy="411480"/>
          </a:xfrm>
          <a:prstGeom prst="rect">
            <a:avLst/>
          </a:prstGeom>
        </p:spPr>
      </p:pic>
      <p:sp>
        <p:nvSpPr>
          <p:cNvPr id="18" name="Text 13"/>
          <p:cNvSpPr/>
          <p:nvPr/>
        </p:nvSpPr>
        <p:spPr>
          <a:xfrm>
            <a:off x="1234440" y="3611880"/>
            <a:ext cx="4023360" cy="347472"/>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Dynamic Weights</a:t>
            </a:r>
            <a:endParaRPr lang="en-US" sz="1300" dirty="0"/>
          </a:p>
        </p:txBody>
      </p:sp>
      <p:sp>
        <p:nvSpPr>
          <p:cNvPr id="19" name="Text 14"/>
          <p:cNvSpPr/>
          <p:nvPr/>
        </p:nvSpPr>
        <p:spPr>
          <a:xfrm>
            <a:off x="1234440" y="3959352"/>
            <a:ext cx="4023360" cy="502920"/>
          </a:xfrm>
          <a:prstGeom prst="rect">
            <a:avLst/>
          </a:prstGeom>
          <a:noFill/>
          <a:ln/>
        </p:spPr>
        <p:txBody>
          <a:bodyPr wrap="square" lIns="0" tIns="0" rIns="0" bIns="0" rtlCol="0" anchor="ctr"/>
          <a:lstStyle/>
          <a:p>
            <a:pPr indent="0" marL="0">
              <a:buNone/>
            </a:pPr>
            <a:r>
              <a:rPr lang="en-US" sz="1000" dirty="0">
                <a:solidFill>
                  <a:srgbClr val="5D6D7E"/>
                </a:solidFill>
                <a:latin typeface="Calibri" pitchFamily="34" charset="0"/>
                <a:ea typeface="Calibri" pitchFamily="34" charset="-122"/>
                <a:cs typeface="Calibri" pitchFamily="34" charset="-120"/>
              </a:rPr>
              <a:t>Traffic patterns change edge weights by time of day — static solutions fail</a:t>
            </a:r>
            <a:endParaRPr lang="en-US" sz="1000" dirty="0"/>
          </a:p>
        </p:txBody>
      </p:sp>
      <p:sp>
        <p:nvSpPr>
          <p:cNvPr id="20" name="Shape 15"/>
          <p:cNvSpPr/>
          <p:nvPr/>
        </p:nvSpPr>
        <p:spPr>
          <a:xfrm>
            <a:off x="5669280" y="1143000"/>
            <a:ext cx="2971800" cy="3291840"/>
          </a:xfrm>
          <a:prstGeom prst="rect">
            <a:avLst/>
          </a:prstGeom>
          <a:solidFill>
            <a:srgbClr val="0D1B2A"/>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21" name="Text 16"/>
          <p:cNvSpPr/>
          <p:nvPr/>
        </p:nvSpPr>
        <p:spPr>
          <a:xfrm>
            <a:off x="5806440" y="1234440"/>
            <a:ext cx="2651760" cy="365760"/>
          </a:xfrm>
          <a:prstGeom prst="rect">
            <a:avLst/>
          </a:prstGeom>
          <a:noFill/>
          <a:ln/>
        </p:spPr>
        <p:txBody>
          <a:bodyPr wrap="square" lIns="0" tIns="0" rIns="0" bIns="0" rtlCol="0" anchor="ctr"/>
          <a:lstStyle/>
          <a:p>
            <a:pPr indent="0" marL="0">
              <a:buNone/>
            </a:pPr>
            <a:r>
              <a:rPr lang="en-US" sz="1100" i="1" dirty="0">
                <a:solidFill>
                  <a:srgbClr val="BDC3C7"/>
                </a:solidFill>
                <a:latin typeface="Calibri" pitchFamily="34" charset="0"/>
                <a:ea typeface="Calibri" pitchFamily="34" charset="-122"/>
                <a:cs typeface="Calibri" pitchFamily="34" charset="-120"/>
              </a:rPr>
              <a:t>We need an algorithm that is:</a:t>
            </a:r>
            <a:endParaRPr lang="en-US" sz="1100" dirty="0"/>
          </a:p>
        </p:txBody>
      </p:sp>
      <p:sp>
        <p:nvSpPr>
          <p:cNvPr id="22" name="Text 17"/>
          <p:cNvSpPr/>
          <p:nvPr/>
        </p:nvSpPr>
        <p:spPr>
          <a:xfrm>
            <a:off x="5806440" y="1691640"/>
            <a:ext cx="274320" cy="320040"/>
          </a:xfrm>
          <a:prstGeom prst="rect">
            <a:avLst/>
          </a:prstGeom>
          <a:noFill/>
          <a:ln/>
        </p:spPr>
        <p:txBody>
          <a:bodyPr wrap="square" lIns="0" tIns="0" rIns="0" bIns="0" rtlCol="0" anchor="ctr"/>
          <a:lstStyle/>
          <a:p>
            <a:pPr indent="0" marL="0">
              <a:buNone/>
            </a:pPr>
            <a:r>
              <a:rPr lang="en-US" sz="1600" b="1" dirty="0">
                <a:solidFill>
                  <a:srgbClr val="1ABC9C"/>
                </a:solidFill>
                <a:latin typeface="Calibri" pitchFamily="34" charset="0"/>
                <a:ea typeface="Calibri" pitchFamily="34" charset="-122"/>
                <a:cs typeface="Calibri" pitchFamily="34" charset="-120"/>
              </a:rPr>
              <a:t>✓</a:t>
            </a:r>
            <a:endParaRPr lang="en-US" sz="1600" dirty="0"/>
          </a:p>
        </p:txBody>
      </p:sp>
      <p:sp>
        <p:nvSpPr>
          <p:cNvPr id="23" name="Text 18"/>
          <p:cNvSpPr/>
          <p:nvPr/>
        </p:nvSpPr>
        <p:spPr>
          <a:xfrm>
            <a:off x="6080760" y="1691640"/>
            <a:ext cx="24688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Correct</a:t>
            </a:r>
            <a:endParaRPr lang="en-US" sz="1300" dirty="0"/>
          </a:p>
        </p:txBody>
      </p:sp>
      <p:sp>
        <p:nvSpPr>
          <p:cNvPr id="24" name="Text 19"/>
          <p:cNvSpPr/>
          <p:nvPr/>
        </p:nvSpPr>
        <p:spPr>
          <a:xfrm>
            <a:off x="6080760" y="1993392"/>
            <a:ext cx="2468880" cy="274320"/>
          </a:xfrm>
          <a:prstGeom prst="rect">
            <a:avLst/>
          </a:prstGeom>
          <a:noFill/>
          <a:ln/>
        </p:spPr>
        <p:txBody>
          <a:bodyPr wrap="square" lIns="0" tIns="0" rIns="0" bIns="0" rtlCol="0" anchor="ctr"/>
          <a:lstStyle/>
          <a:p>
            <a:pPr indent="0" marL="0">
              <a:buNone/>
            </a:pPr>
            <a:r>
              <a:rPr lang="en-US" sz="950" dirty="0">
                <a:solidFill>
                  <a:srgbClr val="BDC3C7"/>
                </a:solidFill>
                <a:latin typeface="Calibri" pitchFamily="34" charset="0"/>
                <a:ea typeface="Calibri" pitchFamily="34" charset="-122"/>
                <a:cs typeface="Calibri" pitchFamily="34" charset="-120"/>
              </a:rPr>
              <a:t>Optimal paths always</a:t>
            </a:r>
            <a:endParaRPr lang="en-US" sz="950" dirty="0"/>
          </a:p>
        </p:txBody>
      </p:sp>
      <p:sp>
        <p:nvSpPr>
          <p:cNvPr id="25" name="Text 20"/>
          <p:cNvSpPr/>
          <p:nvPr/>
        </p:nvSpPr>
        <p:spPr>
          <a:xfrm>
            <a:off x="5806440" y="2404872"/>
            <a:ext cx="274320" cy="320040"/>
          </a:xfrm>
          <a:prstGeom prst="rect">
            <a:avLst/>
          </a:prstGeom>
          <a:noFill/>
          <a:ln/>
        </p:spPr>
        <p:txBody>
          <a:bodyPr wrap="square" lIns="0" tIns="0" rIns="0" bIns="0" rtlCol="0" anchor="ctr"/>
          <a:lstStyle/>
          <a:p>
            <a:pPr indent="0" marL="0">
              <a:buNone/>
            </a:pPr>
            <a:r>
              <a:rPr lang="en-US" sz="1600" b="1" dirty="0">
                <a:solidFill>
                  <a:srgbClr val="1ABC9C"/>
                </a:solidFill>
                <a:latin typeface="Calibri" pitchFamily="34" charset="0"/>
                <a:ea typeface="Calibri" pitchFamily="34" charset="-122"/>
                <a:cs typeface="Calibri" pitchFamily="34" charset="-120"/>
              </a:rPr>
              <a:t>✓</a:t>
            </a:r>
            <a:endParaRPr lang="en-US" sz="1600" dirty="0"/>
          </a:p>
        </p:txBody>
      </p:sp>
      <p:sp>
        <p:nvSpPr>
          <p:cNvPr id="26" name="Text 21"/>
          <p:cNvSpPr/>
          <p:nvPr/>
        </p:nvSpPr>
        <p:spPr>
          <a:xfrm>
            <a:off x="6080760" y="2404872"/>
            <a:ext cx="24688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Efficient</a:t>
            </a:r>
            <a:endParaRPr lang="en-US" sz="1300" dirty="0"/>
          </a:p>
        </p:txBody>
      </p:sp>
      <p:sp>
        <p:nvSpPr>
          <p:cNvPr id="27" name="Text 22"/>
          <p:cNvSpPr/>
          <p:nvPr/>
        </p:nvSpPr>
        <p:spPr>
          <a:xfrm>
            <a:off x="6080760" y="2706624"/>
            <a:ext cx="2468880" cy="274320"/>
          </a:xfrm>
          <a:prstGeom prst="rect">
            <a:avLst/>
          </a:prstGeom>
          <a:noFill/>
          <a:ln/>
        </p:spPr>
        <p:txBody>
          <a:bodyPr wrap="square" lIns="0" tIns="0" rIns="0" bIns="0" rtlCol="0" anchor="ctr"/>
          <a:lstStyle/>
          <a:p>
            <a:pPr indent="0" marL="0">
              <a:buNone/>
            </a:pPr>
            <a:r>
              <a:rPr lang="en-US" sz="950" dirty="0">
                <a:solidFill>
                  <a:srgbClr val="BDC3C7"/>
                </a:solidFill>
                <a:latin typeface="Calibri" pitchFamily="34" charset="0"/>
                <a:ea typeface="Calibri" pitchFamily="34" charset="-122"/>
                <a:cs typeface="Calibri" pitchFamily="34" charset="-120"/>
              </a:rPr>
              <a:t>Avoids wasted exploration</a:t>
            </a:r>
            <a:endParaRPr lang="en-US" sz="950" dirty="0"/>
          </a:p>
        </p:txBody>
      </p:sp>
      <p:sp>
        <p:nvSpPr>
          <p:cNvPr id="28" name="Text 23"/>
          <p:cNvSpPr/>
          <p:nvPr/>
        </p:nvSpPr>
        <p:spPr>
          <a:xfrm>
            <a:off x="5806440" y="3118104"/>
            <a:ext cx="274320" cy="320040"/>
          </a:xfrm>
          <a:prstGeom prst="rect">
            <a:avLst/>
          </a:prstGeom>
          <a:noFill/>
          <a:ln/>
        </p:spPr>
        <p:txBody>
          <a:bodyPr wrap="square" lIns="0" tIns="0" rIns="0" bIns="0" rtlCol="0" anchor="ctr"/>
          <a:lstStyle/>
          <a:p>
            <a:pPr indent="0" marL="0">
              <a:buNone/>
            </a:pPr>
            <a:r>
              <a:rPr lang="en-US" sz="1600" b="1" dirty="0">
                <a:solidFill>
                  <a:srgbClr val="1ABC9C"/>
                </a:solidFill>
                <a:latin typeface="Calibri" pitchFamily="34" charset="0"/>
                <a:ea typeface="Calibri" pitchFamily="34" charset="-122"/>
                <a:cs typeface="Calibri" pitchFamily="34" charset="-120"/>
              </a:rPr>
              <a:t>✓</a:t>
            </a:r>
            <a:endParaRPr lang="en-US" sz="1600" dirty="0"/>
          </a:p>
        </p:txBody>
      </p:sp>
      <p:sp>
        <p:nvSpPr>
          <p:cNvPr id="29" name="Text 24"/>
          <p:cNvSpPr/>
          <p:nvPr/>
        </p:nvSpPr>
        <p:spPr>
          <a:xfrm>
            <a:off x="6080760" y="3118104"/>
            <a:ext cx="24688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Domain-Aware</a:t>
            </a:r>
            <a:endParaRPr lang="en-US" sz="1300" dirty="0"/>
          </a:p>
        </p:txBody>
      </p:sp>
      <p:sp>
        <p:nvSpPr>
          <p:cNvPr id="30" name="Text 25"/>
          <p:cNvSpPr/>
          <p:nvPr/>
        </p:nvSpPr>
        <p:spPr>
          <a:xfrm>
            <a:off x="6080760" y="3419856"/>
            <a:ext cx="2468880" cy="274320"/>
          </a:xfrm>
          <a:prstGeom prst="rect">
            <a:avLst/>
          </a:prstGeom>
          <a:noFill/>
          <a:ln/>
        </p:spPr>
        <p:txBody>
          <a:bodyPr wrap="square" lIns="0" tIns="0" rIns="0" bIns="0" rtlCol="0" anchor="ctr"/>
          <a:lstStyle/>
          <a:p>
            <a:pPr indent="0" marL="0">
              <a:buNone/>
            </a:pPr>
            <a:r>
              <a:rPr lang="en-US" sz="950" dirty="0">
                <a:solidFill>
                  <a:srgbClr val="BDC3C7"/>
                </a:solidFill>
                <a:latin typeface="Calibri" pitchFamily="34" charset="0"/>
                <a:ea typeface="Calibri" pitchFamily="34" charset="-122"/>
                <a:cs typeface="Calibri" pitchFamily="34" charset="-120"/>
              </a:rPr>
              <a:t>Uses geographic structure</a:t>
            </a:r>
            <a:endParaRPr lang="en-US" sz="950" dirty="0"/>
          </a:p>
        </p:txBody>
      </p:sp>
      <p:sp>
        <p:nvSpPr>
          <p:cNvPr id="31" name="Text 26"/>
          <p:cNvSpPr/>
          <p:nvPr/>
        </p:nvSpPr>
        <p:spPr>
          <a:xfrm>
            <a:off x="5806440" y="3831336"/>
            <a:ext cx="274320" cy="320040"/>
          </a:xfrm>
          <a:prstGeom prst="rect">
            <a:avLst/>
          </a:prstGeom>
          <a:noFill/>
          <a:ln/>
        </p:spPr>
        <p:txBody>
          <a:bodyPr wrap="square" lIns="0" tIns="0" rIns="0" bIns="0" rtlCol="0" anchor="ctr"/>
          <a:lstStyle/>
          <a:p>
            <a:pPr indent="0" marL="0">
              <a:buNone/>
            </a:pPr>
            <a:r>
              <a:rPr lang="en-US" sz="1600" b="1" dirty="0">
                <a:solidFill>
                  <a:srgbClr val="1ABC9C"/>
                </a:solidFill>
                <a:latin typeface="Calibri" pitchFamily="34" charset="0"/>
                <a:ea typeface="Calibri" pitchFamily="34" charset="-122"/>
                <a:cs typeface="Calibri" pitchFamily="34" charset="-120"/>
              </a:rPr>
              <a:t>✓</a:t>
            </a:r>
            <a:endParaRPr lang="en-US" sz="1600" dirty="0"/>
          </a:p>
        </p:txBody>
      </p:sp>
      <p:sp>
        <p:nvSpPr>
          <p:cNvPr id="32" name="Text 27"/>
          <p:cNvSpPr/>
          <p:nvPr/>
        </p:nvSpPr>
        <p:spPr>
          <a:xfrm>
            <a:off x="6080760" y="3831336"/>
            <a:ext cx="24688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Extensible</a:t>
            </a:r>
            <a:endParaRPr lang="en-US" sz="1300" dirty="0"/>
          </a:p>
        </p:txBody>
      </p:sp>
      <p:sp>
        <p:nvSpPr>
          <p:cNvPr id="33" name="Text 28"/>
          <p:cNvSpPr/>
          <p:nvPr/>
        </p:nvSpPr>
        <p:spPr>
          <a:xfrm>
            <a:off x="6080760" y="4133088"/>
            <a:ext cx="2468880" cy="274320"/>
          </a:xfrm>
          <a:prstGeom prst="rect">
            <a:avLst/>
          </a:prstGeom>
          <a:noFill/>
          <a:ln/>
        </p:spPr>
        <p:txBody>
          <a:bodyPr wrap="square" lIns="0" tIns="0" rIns="0" bIns="0" rtlCol="0" anchor="ctr"/>
          <a:lstStyle/>
          <a:p>
            <a:pPr indent="0" marL="0">
              <a:buNone/>
            </a:pPr>
            <a:r>
              <a:rPr lang="en-US" sz="950" dirty="0">
                <a:solidFill>
                  <a:srgbClr val="BDC3C7"/>
                </a:solidFill>
                <a:latin typeface="Calibri" pitchFamily="34" charset="0"/>
                <a:ea typeface="Calibri" pitchFamily="34" charset="-122"/>
                <a:cs typeface="Calibri" pitchFamily="34" charset="-120"/>
              </a:rPr>
              <a:t>Emergency mode support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457200" y="164592"/>
            <a:ext cx="8229600" cy="548640"/>
          </a:xfrm>
          <a:prstGeom prst="rect">
            <a:avLst/>
          </a:prstGeom>
          <a:noFill/>
          <a:ln/>
        </p:spPr>
        <p:txBody>
          <a:bodyPr wrap="square" lIns="0" tIns="0" rIns="0" bIns="0" rtlCol="0" anchor="ctr"/>
          <a:lstStyle/>
          <a:p>
            <a:pPr algn="l" indent="0" marL="0">
              <a:buNone/>
            </a:pPr>
            <a:r>
              <a:rPr lang="en-US" sz="2800" b="1" dirty="0">
                <a:solidFill>
                  <a:srgbClr val="0D1B2A"/>
                </a:solidFill>
                <a:latin typeface="Calibri" pitchFamily="34" charset="0"/>
                <a:ea typeface="Calibri" pitchFamily="34" charset="-122"/>
                <a:cs typeface="Calibri" pitchFamily="34" charset="-120"/>
              </a:rPr>
              <a:t>Algorithm Selection Rationale</a:t>
            </a:r>
            <a:endParaRPr lang="en-US" sz="2800" dirty="0"/>
          </a:p>
        </p:txBody>
      </p:sp>
      <p:sp>
        <p:nvSpPr>
          <p:cNvPr id="3" name="Text 1"/>
          <p:cNvSpPr/>
          <p:nvPr/>
        </p:nvSpPr>
        <p:spPr>
          <a:xfrm>
            <a:off x="457200" y="685800"/>
            <a:ext cx="8229600" cy="274320"/>
          </a:xfrm>
          <a:prstGeom prst="rect">
            <a:avLst/>
          </a:prstGeom>
          <a:noFill/>
          <a:ln/>
        </p:spPr>
        <p:txBody>
          <a:bodyPr wrap="square" lIns="0" tIns="0" rIns="0" bIns="0" rtlCol="0" anchor="ctr"/>
          <a:lstStyle/>
          <a:p>
            <a:pPr indent="0" marL="0">
              <a:buNone/>
            </a:pPr>
            <a:r>
              <a:rPr lang="en-US" sz="1200" i="1" dirty="0">
                <a:solidFill>
                  <a:srgbClr val="5D6D7E"/>
                </a:solidFill>
                <a:latin typeface="Calibri" pitchFamily="34" charset="0"/>
                <a:ea typeface="Calibri" pitchFamily="34" charset="-122"/>
                <a:cs typeface="Calibri" pitchFamily="34" charset="-120"/>
              </a:rPr>
              <a:t>Comparing Greedy BFS · Dijkstra · A*</a:t>
            </a:r>
            <a:endParaRPr lang="en-US" sz="1200" dirty="0"/>
          </a:p>
        </p:txBody>
      </p:sp>
      <p:sp>
        <p:nvSpPr>
          <p:cNvPr id="4" name="Shape 2"/>
          <p:cNvSpPr/>
          <p:nvPr/>
        </p:nvSpPr>
        <p:spPr>
          <a:xfrm>
            <a:off x="457200" y="960120"/>
            <a:ext cx="8229600" cy="22860"/>
          </a:xfrm>
          <a:prstGeom prst="rect">
            <a:avLst/>
          </a:prstGeom>
          <a:solidFill>
            <a:srgbClr val="1ABC9C"/>
          </a:solidFill>
          <a:ln w="12700">
            <a:solidFill>
              <a:srgbClr val="1ABC9C"/>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2560320"/>
        </p:xfrm>
        <a:graphic>
          <a:graphicData uri="http://schemas.openxmlformats.org/drawingml/2006/table">
            <a:tbl>
              <a:tblPr/>
              <a:tblGrid>
                <a:gridCol w="2194560"/>
                <a:gridCol w="1645920"/>
                <a:gridCol w="1645920"/>
                <a:gridCol w="2011680"/>
              </a:tblGrid>
              <a:tr h="420624">
                <a:tc>
                  <a:txBody>
                    <a:bodyPr/>
                    <a:lstStyle/>
                    <a:p>
                      <a:pPr algn="ctr" indent="0" marL="0">
                        <a:buNone/>
                      </a:pPr>
                      <a:r>
                        <a:rPr lang="en-US" sz="1200" b="1" dirty="0">
                          <a:solidFill>
                            <a:srgbClr val="FFFFFF"/>
                          </a:solidFill>
                        </a:rPr>
                        <a:t>Property</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B4F72"/>
                    </a:solidFill>
                  </a:tcPr>
                </a:tc>
                <a:tc>
                  <a:txBody>
                    <a:bodyPr/>
                    <a:lstStyle/>
                    <a:p>
                      <a:pPr algn="ctr" indent="0" marL="0">
                        <a:buNone/>
                      </a:pPr>
                      <a:r>
                        <a:rPr lang="en-US" sz="1200" b="1" dirty="0">
                          <a:solidFill>
                            <a:srgbClr val="FFFFFF"/>
                          </a:solidFill>
                        </a:rPr>
                        <a:t>Greedy BFS</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B4F72"/>
                    </a:solidFill>
                  </a:tcPr>
                </a:tc>
                <a:tc>
                  <a:txBody>
                    <a:bodyPr/>
                    <a:lstStyle/>
                    <a:p>
                      <a:pPr algn="ctr" indent="0" marL="0">
                        <a:buNone/>
                      </a:pPr>
                      <a:r>
                        <a:rPr lang="en-US" sz="1200" b="1" dirty="0">
                          <a:solidFill>
                            <a:srgbClr val="FFFFFF"/>
                          </a:solidFill>
                        </a:rPr>
                        <a:t>Dijkstra</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B4F72"/>
                    </a:solidFill>
                  </a:tcPr>
                </a:tc>
                <a:tc>
                  <a:txBody>
                    <a:bodyPr/>
                    <a:lstStyle/>
                    <a:p>
                      <a:pPr algn="ctr" indent="0" marL="0">
                        <a:buNone/>
                      </a:pPr>
                      <a:r>
                        <a:rPr lang="en-US" sz="1200" b="1" dirty="0">
                          <a:solidFill>
                            <a:srgbClr val="FFFFFF"/>
                          </a:solidFill>
                        </a:rPr>
                        <a:t>A*  ← Selected</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ABC9C"/>
                    </a:solidFill>
                  </a:tcPr>
                </a:tc>
              </a:tr>
              <a:tr h="420624">
                <a:tc>
                  <a:txBody>
                    <a:bodyPr/>
                    <a:lstStyle/>
                    <a:p>
                      <a:pPr algn="ctr" indent="0" marL="0">
                        <a:buNone/>
                      </a:pPr>
                      <a:r>
                        <a:rPr lang="en-US" sz="1200" dirty="0">
                          <a:solidFill>
                            <a:srgbClr val="0D1B2A"/>
                          </a:solidFill>
                        </a:rPr>
                        <a:t>Uses heuristic</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27AE60"/>
                          </a:solidFill>
                        </a:rPr>
                        <a:t>✓</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E74C3C"/>
                          </a:solidFill>
                        </a:rPr>
                        <a:t>✗</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ABC9C"/>
                          </a:solidFill>
                        </a:rPr>
                        <a:t>✓</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EBF9F5"/>
                    </a:solidFill>
                  </a:tcPr>
                </a:tc>
              </a:tr>
              <a:tr h="420624">
                <a:tc>
                  <a:txBody>
                    <a:bodyPr/>
                    <a:lstStyle/>
                    <a:p>
                      <a:pPr algn="ctr" indent="0" marL="0">
                        <a:buNone/>
                      </a:pPr>
                      <a:r>
                        <a:rPr lang="en-US" sz="1200" dirty="0">
                          <a:solidFill>
                            <a:srgbClr val="0D1B2A"/>
                          </a:solidFill>
                        </a:rPr>
                        <a:t>Guarantees optimality</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E74C3C"/>
                          </a:solidFill>
                        </a:rPr>
                        <a:t>✗</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7AE60"/>
                          </a:solidFill>
                        </a:rPr>
                        <a:t>✓</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ABC9C"/>
                          </a:solidFill>
                        </a:rPr>
                        <a:t>✓</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EBF9F5"/>
                    </a:solidFill>
                  </a:tcPr>
                </a:tc>
              </a:tr>
              <a:tr h="420624">
                <a:tc>
                  <a:txBody>
                    <a:bodyPr/>
                    <a:lstStyle/>
                    <a:p>
                      <a:pPr algn="ctr" indent="0" marL="0">
                        <a:buNone/>
                      </a:pPr>
                      <a:r>
                        <a:rPr lang="en-US" sz="1200" dirty="0">
                          <a:solidFill>
                            <a:srgbClr val="0D1B2A"/>
                          </a:solidFill>
                        </a:rPr>
                        <a:t>Explores fewer nodes</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27AE60"/>
                          </a:solidFill>
                        </a:rPr>
                        <a:t>✓</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E74C3C"/>
                          </a:solidFill>
                        </a:rPr>
                        <a:t>✗</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ABC9C"/>
                          </a:solidFill>
                        </a:rPr>
                        <a:t>✓</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EBF9F5"/>
                    </a:solidFill>
                  </a:tcPr>
                </a:tc>
              </a:tr>
              <a:tr h="420624">
                <a:tc>
                  <a:txBody>
                    <a:bodyPr/>
                    <a:lstStyle/>
                    <a:p>
                      <a:pPr algn="ctr" indent="0" marL="0">
                        <a:buNone/>
                      </a:pPr>
                      <a:r>
                        <a:rPr lang="en-US" sz="1200" dirty="0">
                          <a:solidFill>
                            <a:srgbClr val="0D1B2A"/>
                          </a:solidFill>
                        </a:rPr>
                        <a:t>Handles weighted edges</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E74C3C"/>
                          </a:solidFill>
                        </a:rPr>
                        <a:t>✗</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7AE60"/>
                          </a:solidFill>
                        </a:rPr>
                        <a:t>✓</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ABC9C"/>
                          </a:solidFill>
                        </a:rPr>
                        <a:t>✓</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EBF9F5"/>
                    </a:solidFill>
                  </a:tcPr>
                </a:tc>
              </a:tr>
              <a:tr h="420624">
                <a:tc>
                  <a:txBody>
                    <a:bodyPr/>
                    <a:lstStyle/>
                    <a:p>
                      <a:pPr algn="ctr" indent="0" marL="0">
                        <a:buNone/>
                      </a:pPr>
                      <a:r>
                        <a:rPr lang="en-US" sz="1200" dirty="0">
                          <a:solidFill>
                            <a:srgbClr val="0D1B2A"/>
                          </a:solidFill>
                        </a:rPr>
                        <a:t>Emergency routing</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E74C3C"/>
                          </a:solidFill>
                        </a:rPr>
                        <a:t>✗</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D6D7E"/>
                          </a:solidFill>
                        </a:rPr>
                        <a:t>Possible</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ABC9C"/>
                          </a:solidFill>
                        </a:rPr>
                        <a:t>Best fit</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EBF9F5"/>
                    </a:solidFill>
                  </a:tcPr>
                </a:tc>
              </a:tr>
            </a:tbl>
          </a:graphicData>
        </a:graphic>
      </p:graphicFrame>
      <p:sp>
        <p:nvSpPr>
          <p:cNvPr id="6" name="Shape 3"/>
          <p:cNvSpPr/>
          <p:nvPr/>
        </p:nvSpPr>
        <p:spPr>
          <a:xfrm>
            <a:off x="457200" y="3794760"/>
            <a:ext cx="8229600" cy="960120"/>
          </a:xfrm>
          <a:prstGeom prst="rect">
            <a:avLst/>
          </a:prstGeom>
          <a:solidFill>
            <a:srgbClr val="0D1B2A"/>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7" name="Text 4"/>
          <p:cNvSpPr/>
          <p:nvPr/>
        </p:nvSpPr>
        <p:spPr>
          <a:xfrm>
            <a:off x="594360" y="3858768"/>
            <a:ext cx="1371600" cy="365760"/>
          </a:xfrm>
          <a:prstGeom prst="rect">
            <a:avLst/>
          </a:prstGeom>
          <a:noFill/>
          <a:ln/>
        </p:spPr>
        <p:txBody>
          <a:bodyPr wrap="square" lIns="0" tIns="0" rIns="0" bIns="0" rtlCol="0" anchor="ctr"/>
          <a:lstStyle/>
          <a:p>
            <a:pPr indent="0" marL="0">
              <a:buNone/>
            </a:pPr>
            <a:r>
              <a:rPr lang="en-US" sz="1100" b="1" dirty="0">
                <a:solidFill>
                  <a:srgbClr val="1ABC9C"/>
                </a:solidFill>
                <a:latin typeface="Calibri" pitchFamily="34" charset="0"/>
                <a:ea typeface="Calibri" pitchFamily="34" charset="-122"/>
                <a:cs typeface="Calibri" pitchFamily="34" charset="-120"/>
              </a:rPr>
              <a:t>Key Insight:  </a:t>
            </a:r>
            <a:endParaRPr lang="en-US" sz="1100" dirty="0"/>
          </a:p>
        </p:txBody>
      </p:sp>
      <p:sp>
        <p:nvSpPr>
          <p:cNvPr id="8" name="Text 5"/>
          <p:cNvSpPr/>
          <p:nvPr/>
        </p:nvSpPr>
        <p:spPr>
          <a:xfrm>
            <a:off x="1737360" y="3858768"/>
            <a:ext cx="6675120" cy="457200"/>
          </a:xfrm>
          <a:prstGeom prst="rect">
            <a:avLst/>
          </a:prstGeom>
          <a:noFill/>
          <a:ln/>
        </p:spPr>
        <p:txBody>
          <a:bodyPr wrap="square" lIns="0" tIns="0" rIns="0" bIns="0" rtlCol="0" anchor="ctr"/>
          <a:lstStyle/>
          <a:p>
            <a:pPr indent="0" marL="0">
              <a:buNone/>
            </a:pPr>
            <a:r>
              <a:rPr lang="en-US" sz="1100" dirty="0">
                <a:solidFill>
                  <a:srgbClr val="BDC3C7"/>
                </a:solidFill>
                <a:latin typeface="Calibri" pitchFamily="34" charset="0"/>
                <a:ea typeface="Calibri" pitchFamily="34" charset="-122"/>
                <a:cs typeface="Calibri" pitchFamily="34" charset="-120"/>
              </a:rPr>
              <a:t>A* dominates — it matches Dijkstra's correctness while approaching Greedy's efficiency. It is the only algorithm that is both optimal and informed.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182880"/>
            <a:ext cx="8229600" cy="6858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Mathematical Foundations</a:t>
            </a:r>
            <a:endParaRPr lang="en-US" sz="3200" dirty="0"/>
          </a:p>
        </p:txBody>
      </p:sp>
      <p:sp>
        <p:nvSpPr>
          <p:cNvPr id="3" name="Shape 1"/>
          <p:cNvSpPr/>
          <p:nvPr/>
        </p:nvSpPr>
        <p:spPr>
          <a:xfrm>
            <a:off x="457200" y="201168"/>
            <a:ext cx="64008" cy="594360"/>
          </a:xfrm>
          <a:prstGeom prst="ellipse">
            <a:avLst/>
          </a:prstGeom>
          <a:solidFill>
            <a:srgbClr val="1ABC9C"/>
          </a:solidFill>
          <a:ln w="12700">
            <a:solidFill>
              <a:srgbClr val="1ABC9C"/>
            </a:solidFill>
            <a:prstDash val="solid"/>
          </a:ln>
        </p:spPr>
      </p:sp>
      <p:sp>
        <p:nvSpPr>
          <p:cNvPr id="4" name="Shape 2"/>
          <p:cNvSpPr/>
          <p:nvPr/>
        </p:nvSpPr>
        <p:spPr>
          <a:xfrm>
            <a:off x="457200" y="960120"/>
            <a:ext cx="1463040" cy="777240"/>
          </a:xfrm>
          <a:prstGeom prst="rect">
            <a:avLst/>
          </a:prstGeom>
          <a:solidFill>
            <a:srgbClr val="1ABC9C"/>
          </a:solidFill>
          <a:ln w="12700">
            <a:solidFill>
              <a:srgbClr val="1ABC9C"/>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457200" y="960120"/>
            <a:ext cx="1463040" cy="777240"/>
          </a:xfrm>
          <a:prstGeom prst="rect">
            <a:avLst/>
          </a:prstGeom>
          <a:noFill/>
          <a:ln/>
        </p:spPr>
        <p:txBody>
          <a:bodyPr wrap="square" lIns="0" tIns="0" rIns="0" bIns="0" rtlCol="0" anchor="ctr"/>
          <a:lstStyle/>
          <a:p>
            <a:pPr algn="ctr" indent="0" marL="0">
              <a:buNone/>
            </a:pPr>
            <a:r>
              <a:rPr lang="en-US" sz="2600" b="1" dirty="0">
                <a:solidFill>
                  <a:srgbClr val="0D1B2A"/>
                </a:solidFill>
                <a:latin typeface="Calibri" pitchFamily="34" charset="0"/>
                <a:ea typeface="Calibri" pitchFamily="34" charset="-122"/>
                <a:cs typeface="Calibri" pitchFamily="34" charset="-120"/>
              </a:rPr>
              <a:t>f(n)</a:t>
            </a:r>
            <a:endParaRPr lang="en-US" sz="2600" dirty="0"/>
          </a:p>
        </p:txBody>
      </p:sp>
      <p:sp>
        <p:nvSpPr>
          <p:cNvPr id="6" name="Text 4"/>
          <p:cNvSpPr/>
          <p:nvPr/>
        </p:nvSpPr>
        <p:spPr>
          <a:xfrm>
            <a:off x="457200" y="1764792"/>
            <a:ext cx="1463040" cy="411480"/>
          </a:xfrm>
          <a:prstGeom prst="rect">
            <a:avLst/>
          </a:prstGeom>
          <a:noFill/>
          <a:ln/>
        </p:spPr>
        <p:txBody>
          <a:bodyPr wrap="square" lIns="0" tIns="0" rIns="0" bIns="0" rtlCol="0" anchor="ctr"/>
          <a:lstStyle/>
          <a:p>
            <a:pPr algn="ctr" indent="0" marL="0">
              <a:buNone/>
            </a:pPr>
            <a:r>
              <a:rPr lang="en-US" sz="900" dirty="0">
                <a:solidFill>
                  <a:srgbClr val="BDC3C7"/>
                </a:solidFill>
                <a:latin typeface="Calibri" pitchFamily="34" charset="0"/>
                <a:ea typeface="Calibri" pitchFamily="34" charset="-122"/>
                <a:cs typeface="Calibri" pitchFamily="34" charset="-120"/>
              </a:rPr>
              <a:t>Estimated total path cost</a:t>
            </a:r>
            <a:endParaRPr lang="en-US" sz="900" dirty="0"/>
          </a:p>
        </p:txBody>
      </p:sp>
      <p:sp>
        <p:nvSpPr>
          <p:cNvPr id="7" name="Text 5"/>
          <p:cNvSpPr/>
          <p:nvPr/>
        </p:nvSpPr>
        <p:spPr>
          <a:xfrm>
            <a:off x="2651760" y="960120"/>
            <a:ext cx="64008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t>
            </a:r>
            <a:endParaRPr lang="en-US" sz="2800" dirty="0"/>
          </a:p>
        </p:txBody>
      </p:sp>
      <p:sp>
        <p:nvSpPr>
          <p:cNvPr id="8" name="Shape 6"/>
          <p:cNvSpPr/>
          <p:nvPr/>
        </p:nvSpPr>
        <p:spPr>
          <a:xfrm>
            <a:off x="3840480" y="960120"/>
            <a:ext cx="1463040" cy="777240"/>
          </a:xfrm>
          <a:prstGeom prst="rect">
            <a:avLst/>
          </a:prstGeom>
          <a:solidFill>
            <a:srgbClr val="3498DB"/>
          </a:solidFill>
          <a:ln w="12700">
            <a:solidFill>
              <a:srgbClr val="3498DB"/>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3840480" y="960120"/>
            <a:ext cx="1463040" cy="777240"/>
          </a:xfrm>
          <a:prstGeom prst="rect">
            <a:avLst/>
          </a:prstGeom>
          <a:noFill/>
          <a:ln/>
        </p:spPr>
        <p:txBody>
          <a:bodyPr wrap="square" lIns="0" tIns="0" rIns="0" bIns="0" rtlCol="0" anchor="ctr"/>
          <a:lstStyle/>
          <a:p>
            <a:pPr algn="ctr" indent="0" marL="0">
              <a:buNone/>
            </a:pPr>
            <a:r>
              <a:rPr lang="en-US" sz="2600" b="1" dirty="0">
                <a:solidFill>
                  <a:srgbClr val="0D1B2A"/>
                </a:solidFill>
                <a:latin typeface="Calibri" pitchFamily="34" charset="0"/>
                <a:ea typeface="Calibri" pitchFamily="34" charset="-122"/>
                <a:cs typeface="Calibri" pitchFamily="34" charset="-120"/>
              </a:rPr>
              <a:t>g(n)</a:t>
            </a:r>
            <a:endParaRPr lang="en-US" sz="2600" dirty="0"/>
          </a:p>
        </p:txBody>
      </p:sp>
      <p:sp>
        <p:nvSpPr>
          <p:cNvPr id="10" name="Text 8"/>
          <p:cNvSpPr/>
          <p:nvPr/>
        </p:nvSpPr>
        <p:spPr>
          <a:xfrm>
            <a:off x="3840480" y="1764792"/>
            <a:ext cx="1463040" cy="411480"/>
          </a:xfrm>
          <a:prstGeom prst="rect">
            <a:avLst/>
          </a:prstGeom>
          <a:noFill/>
          <a:ln/>
        </p:spPr>
        <p:txBody>
          <a:bodyPr wrap="square" lIns="0" tIns="0" rIns="0" bIns="0" rtlCol="0" anchor="ctr"/>
          <a:lstStyle/>
          <a:p>
            <a:pPr algn="ctr" indent="0" marL="0">
              <a:buNone/>
            </a:pPr>
            <a:r>
              <a:rPr lang="en-US" sz="900" dirty="0">
                <a:solidFill>
                  <a:srgbClr val="BDC3C7"/>
                </a:solidFill>
                <a:latin typeface="Calibri" pitchFamily="34" charset="0"/>
                <a:ea typeface="Calibri" pitchFamily="34" charset="-122"/>
                <a:cs typeface="Calibri" pitchFamily="34" charset="-120"/>
              </a:rPr>
              <a:t>Exact cost: start → n</a:t>
            </a:r>
            <a:endParaRPr lang="en-US" sz="900" dirty="0"/>
          </a:p>
        </p:txBody>
      </p:sp>
      <p:sp>
        <p:nvSpPr>
          <p:cNvPr id="11" name="Text 9"/>
          <p:cNvSpPr/>
          <p:nvPr/>
        </p:nvSpPr>
        <p:spPr>
          <a:xfrm>
            <a:off x="6035040" y="960120"/>
            <a:ext cx="64008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t>
            </a:r>
            <a:endParaRPr lang="en-US" sz="2800" dirty="0"/>
          </a:p>
        </p:txBody>
      </p:sp>
      <p:sp>
        <p:nvSpPr>
          <p:cNvPr id="12" name="Shape 10"/>
          <p:cNvSpPr/>
          <p:nvPr/>
        </p:nvSpPr>
        <p:spPr>
          <a:xfrm>
            <a:off x="7223760" y="960120"/>
            <a:ext cx="1463040" cy="777240"/>
          </a:xfrm>
          <a:prstGeom prst="rect">
            <a:avLst/>
          </a:prstGeom>
          <a:solidFill>
            <a:srgbClr val="E67E22"/>
          </a:solidFill>
          <a:ln w="12700">
            <a:solidFill>
              <a:srgbClr val="E67E22"/>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7223760" y="960120"/>
            <a:ext cx="1463040" cy="777240"/>
          </a:xfrm>
          <a:prstGeom prst="rect">
            <a:avLst/>
          </a:prstGeom>
          <a:noFill/>
          <a:ln/>
        </p:spPr>
        <p:txBody>
          <a:bodyPr wrap="square" lIns="0" tIns="0" rIns="0" bIns="0" rtlCol="0" anchor="ctr"/>
          <a:lstStyle/>
          <a:p>
            <a:pPr algn="ctr" indent="0" marL="0">
              <a:buNone/>
            </a:pPr>
            <a:r>
              <a:rPr lang="en-US" sz="2600" b="1" dirty="0">
                <a:solidFill>
                  <a:srgbClr val="0D1B2A"/>
                </a:solidFill>
                <a:latin typeface="Calibri" pitchFamily="34" charset="0"/>
                <a:ea typeface="Calibri" pitchFamily="34" charset="-122"/>
                <a:cs typeface="Calibri" pitchFamily="34" charset="-120"/>
              </a:rPr>
              <a:t>h(n)</a:t>
            </a:r>
            <a:endParaRPr lang="en-US" sz="2600" dirty="0"/>
          </a:p>
        </p:txBody>
      </p:sp>
      <p:sp>
        <p:nvSpPr>
          <p:cNvPr id="14" name="Text 12"/>
          <p:cNvSpPr/>
          <p:nvPr/>
        </p:nvSpPr>
        <p:spPr>
          <a:xfrm>
            <a:off x="7223760" y="1764792"/>
            <a:ext cx="1463040" cy="411480"/>
          </a:xfrm>
          <a:prstGeom prst="rect">
            <a:avLst/>
          </a:prstGeom>
          <a:noFill/>
          <a:ln/>
        </p:spPr>
        <p:txBody>
          <a:bodyPr wrap="square" lIns="0" tIns="0" rIns="0" bIns="0" rtlCol="0" anchor="ctr"/>
          <a:lstStyle/>
          <a:p>
            <a:pPr algn="ctr" indent="0" marL="0">
              <a:buNone/>
            </a:pPr>
            <a:r>
              <a:rPr lang="en-US" sz="900" dirty="0">
                <a:solidFill>
                  <a:srgbClr val="BDC3C7"/>
                </a:solidFill>
                <a:latin typeface="Calibri" pitchFamily="34" charset="0"/>
                <a:ea typeface="Calibri" pitchFamily="34" charset="-122"/>
                <a:cs typeface="Calibri" pitchFamily="34" charset="-120"/>
              </a:rPr>
              <a:t>Heuristic: n → goal</a:t>
            </a:r>
            <a:endParaRPr lang="en-US" sz="900" dirty="0"/>
          </a:p>
        </p:txBody>
      </p:sp>
      <p:sp>
        <p:nvSpPr>
          <p:cNvPr id="15" name="Shape 13"/>
          <p:cNvSpPr/>
          <p:nvPr/>
        </p:nvSpPr>
        <p:spPr>
          <a:xfrm>
            <a:off x="457200" y="2377440"/>
            <a:ext cx="2651760" cy="2423160"/>
          </a:xfrm>
          <a:prstGeom prst="rect">
            <a:avLst/>
          </a:prstGeom>
          <a:solidFill>
            <a:srgbClr val="132337"/>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457200" y="2377440"/>
            <a:ext cx="2651760" cy="54864"/>
          </a:xfrm>
          <a:prstGeom prst="rect">
            <a:avLst/>
          </a:prstGeom>
          <a:solidFill>
            <a:srgbClr val="E67E22"/>
          </a:solidFill>
          <a:ln w="12700">
            <a:solidFill>
              <a:srgbClr val="E67E22"/>
            </a:solidFill>
            <a:prstDash val="solid"/>
          </a:ln>
        </p:spPr>
      </p:sp>
      <p:sp>
        <p:nvSpPr>
          <p:cNvPr id="17" name="Text 15"/>
          <p:cNvSpPr/>
          <p:nvPr/>
        </p:nvSpPr>
        <p:spPr>
          <a:xfrm>
            <a:off x="548640" y="2468880"/>
            <a:ext cx="2468880" cy="5029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Heuristic — Euclidean Distance</a:t>
            </a:r>
            <a:endParaRPr lang="en-US" sz="1000" dirty="0"/>
          </a:p>
        </p:txBody>
      </p:sp>
      <p:sp>
        <p:nvSpPr>
          <p:cNvPr id="18" name="Text 16"/>
          <p:cNvSpPr/>
          <p:nvPr/>
        </p:nvSpPr>
        <p:spPr>
          <a:xfrm>
            <a:off x="548640" y="2999232"/>
            <a:ext cx="2468880" cy="502920"/>
          </a:xfrm>
          <a:prstGeom prst="rect">
            <a:avLst/>
          </a:prstGeom>
          <a:noFill/>
          <a:ln/>
        </p:spPr>
        <p:txBody>
          <a:bodyPr wrap="square" lIns="0" tIns="0" rIns="0" bIns="0" rtlCol="0" anchor="ctr"/>
          <a:lstStyle/>
          <a:p>
            <a:pPr indent="0" marL="0">
              <a:buNone/>
            </a:pPr>
            <a:r>
              <a:rPr lang="en-US" sz="1050" b="1" dirty="0">
                <a:solidFill>
                  <a:srgbClr val="E67E22"/>
                </a:solidFill>
                <a:latin typeface="Consolas" pitchFamily="34" charset="0"/>
                <a:ea typeface="Consolas" pitchFamily="34" charset="-122"/>
                <a:cs typeface="Consolas" pitchFamily="34" charset="-120"/>
              </a:rPr>
              <a:t>h(n) = √[ (xₙ − xₜ)² + (yₙ − yₜ)² ]</a:t>
            </a:r>
            <a:endParaRPr lang="en-US" sz="1050" dirty="0"/>
          </a:p>
        </p:txBody>
      </p:sp>
      <p:sp>
        <p:nvSpPr>
          <p:cNvPr id="19" name="Text 17"/>
          <p:cNvSpPr/>
          <p:nvPr/>
        </p:nvSpPr>
        <p:spPr>
          <a:xfrm>
            <a:off x="548640" y="3547872"/>
            <a:ext cx="2468880" cy="1143000"/>
          </a:xfrm>
          <a:prstGeom prst="rect">
            <a:avLst/>
          </a:prstGeom>
          <a:noFill/>
          <a:ln/>
        </p:spPr>
        <p:txBody>
          <a:bodyPr wrap="square" lIns="0" tIns="0" rIns="0" bIns="0" rtlCol="0" anchor="ctr"/>
          <a:lstStyle/>
          <a:p>
            <a:pPr indent="0" marL="0">
              <a:buNone/>
            </a:pPr>
            <a:r>
              <a:rPr lang="en-US" sz="950" dirty="0">
                <a:solidFill>
                  <a:srgbClr val="BDC3C7"/>
                </a:solidFill>
                <a:latin typeface="Calibri" pitchFamily="34" charset="0"/>
                <a:ea typeface="Calibri" pitchFamily="34" charset="-122"/>
                <a:cs typeface="Calibri" pitchFamily="34" charset="-120"/>
              </a:rPr>
              <a:t>Coordinates of each Cairo node (lat/lon) → straight-line lower bound</a:t>
            </a:r>
            <a:endParaRPr lang="en-US" sz="950" dirty="0"/>
          </a:p>
        </p:txBody>
      </p:sp>
      <p:sp>
        <p:nvSpPr>
          <p:cNvPr id="20" name="Shape 18"/>
          <p:cNvSpPr/>
          <p:nvPr/>
        </p:nvSpPr>
        <p:spPr>
          <a:xfrm>
            <a:off x="3291840" y="2377440"/>
            <a:ext cx="2651760" cy="2423160"/>
          </a:xfrm>
          <a:prstGeom prst="rect">
            <a:avLst/>
          </a:prstGeom>
          <a:solidFill>
            <a:srgbClr val="132337"/>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3291840" y="2377440"/>
            <a:ext cx="2651760" cy="54864"/>
          </a:xfrm>
          <a:prstGeom prst="rect">
            <a:avLst/>
          </a:prstGeom>
          <a:solidFill>
            <a:srgbClr val="27AE60"/>
          </a:solidFill>
          <a:ln w="12700">
            <a:solidFill>
              <a:srgbClr val="27AE60"/>
            </a:solidFill>
            <a:prstDash val="solid"/>
          </a:ln>
        </p:spPr>
      </p:sp>
      <p:sp>
        <p:nvSpPr>
          <p:cNvPr id="22" name="Text 20"/>
          <p:cNvSpPr/>
          <p:nvPr/>
        </p:nvSpPr>
        <p:spPr>
          <a:xfrm>
            <a:off x="3383280" y="2468880"/>
            <a:ext cx="2468880" cy="5029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Admissibility</a:t>
            </a:r>
            <a:endParaRPr lang="en-US" sz="1000" dirty="0"/>
          </a:p>
        </p:txBody>
      </p:sp>
      <p:sp>
        <p:nvSpPr>
          <p:cNvPr id="23" name="Text 21"/>
          <p:cNvSpPr/>
          <p:nvPr/>
        </p:nvSpPr>
        <p:spPr>
          <a:xfrm>
            <a:off x="3383280" y="2999232"/>
            <a:ext cx="2468880" cy="502920"/>
          </a:xfrm>
          <a:prstGeom prst="rect">
            <a:avLst/>
          </a:prstGeom>
          <a:noFill/>
          <a:ln/>
        </p:spPr>
        <p:txBody>
          <a:bodyPr wrap="square" lIns="0" tIns="0" rIns="0" bIns="0" rtlCol="0" anchor="ctr"/>
          <a:lstStyle/>
          <a:p>
            <a:pPr indent="0" marL="0">
              <a:buNone/>
            </a:pPr>
            <a:r>
              <a:rPr lang="en-US" sz="1050" b="1" dirty="0">
                <a:solidFill>
                  <a:srgbClr val="27AE60"/>
                </a:solidFill>
                <a:latin typeface="Consolas" pitchFamily="34" charset="0"/>
                <a:ea typeface="Consolas" pitchFamily="34" charset="-122"/>
                <a:cs typeface="Consolas" pitchFamily="34" charset="-120"/>
              </a:rPr>
              <a:t>∀n : h(n) ≤ h*(n)</a:t>
            </a:r>
            <a:endParaRPr lang="en-US" sz="1050" dirty="0"/>
          </a:p>
        </p:txBody>
      </p:sp>
      <p:sp>
        <p:nvSpPr>
          <p:cNvPr id="24" name="Text 22"/>
          <p:cNvSpPr/>
          <p:nvPr/>
        </p:nvSpPr>
        <p:spPr>
          <a:xfrm>
            <a:off x="3383280" y="3547872"/>
            <a:ext cx="2468880" cy="1143000"/>
          </a:xfrm>
          <a:prstGeom prst="rect">
            <a:avLst/>
          </a:prstGeom>
          <a:noFill/>
          <a:ln/>
        </p:spPr>
        <p:txBody>
          <a:bodyPr wrap="square" lIns="0" tIns="0" rIns="0" bIns="0" rtlCol="0" anchor="ctr"/>
          <a:lstStyle/>
          <a:p>
            <a:pPr indent="0" marL="0">
              <a:buNone/>
            </a:pPr>
            <a:r>
              <a:rPr lang="en-US" sz="950" dirty="0">
                <a:solidFill>
                  <a:srgbClr val="BDC3C7"/>
                </a:solidFill>
                <a:latin typeface="Calibri" pitchFamily="34" charset="0"/>
                <a:ea typeface="Calibri" pitchFamily="34" charset="-122"/>
                <a:cs typeface="Calibri" pitchFamily="34" charset="-120"/>
              </a:rPr>
              <a:t>h never overestimates; Euclidean ≤ actual road distance always</a:t>
            </a:r>
            <a:endParaRPr lang="en-US" sz="950" dirty="0"/>
          </a:p>
        </p:txBody>
      </p:sp>
      <p:sp>
        <p:nvSpPr>
          <p:cNvPr id="25" name="Shape 23"/>
          <p:cNvSpPr/>
          <p:nvPr/>
        </p:nvSpPr>
        <p:spPr>
          <a:xfrm>
            <a:off x="6126480" y="2377440"/>
            <a:ext cx="2651760" cy="2423160"/>
          </a:xfrm>
          <a:prstGeom prst="rect">
            <a:avLst/>
          </a:prstGeom>
          <a:solidFill>
            <a:srgbClr val="132337"/>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6126480" y="2377440"/>
            <a:ext cx="2651760" cy="54864"/>
          </a:xfrm>
          <a:prstGeom prst="rect">
            <a:avLst/>
          </a:prstGeom>
          <a:solidFill>
            <a:srgbClr val="3498DB"/>
          </a:solidFill>
          <a:ln w="12700">
            <a:solidFill>
              <a:srgbClr val="3498DB"/>
            </a:solidFill>
            <a:prstDash val="solid"/>
          </a:ln>
        </p:spPr>
      </p:sp>
      <p:sp>
        <p:nvSpPr>
          <p:cNvPr id="27" name="Text 25"/>
          <p:cNvSpPr/>
          <p:nvPr/>
        </p:nvSpPr>
        <p:spPr>
          <a:xfrm>
            <a:off x="6217920" y="2468880"/>
            <a:ext cx="2468880" cy="5029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Consistency (Triangle Inequality)</a:t>
            </a:r>
            <a:endParaRPr lang="en-US" sz="1000" dirty="0"/>
          </a:p>
        </p:txBody>
      </p:sp>
      <p:sp>
        <p:nvSpPr>
          <p:cNvPr id="28" name="Text 26"/>
          <p:cNvSpPr/>
          <p:nvPr/>
        </p:nvSpPr>
        <p:spPr>
          <a:xfrm>
            <a:off x="6217920" y="2999232"/>
            <a:ext cx="2468880" cy="502920"/>
          </a:xfrm>
          <a:prstGeom prst="rect">
            <a:avLst/>
          </a:prstGeom>
          <a:noFill/>
          <a:ln/>
        </p:spPr>
        <p:txBody>
          <a:bodyPr wrap="square" lIns="0" tIns="0" rIns="0" bIns="0" rtlCol="0" anchor="ctr"/>
          <a:lstStyle/>
          <a:p>
            <a:pPr indent="0" marL="0">
              <a:buNone/>
            </a:pPr>
            <a:r>
              <a:rPr lang="en-US" sz="1050" b="1" dirty="0">
                <a:solidFill>
                  <a:srgbClr val="3498DB"/>
                </a:solidFill>
                <a:latin typeface="Consolas" pitchFamily="34" charset="0"/>
                <a:ea typeface="Consolas" pitchFamily="34" charset="-122"/>
                <a:cs typeface="Consolas" pitchFamily="34" charset="-120"/>
              </a:rPr>
              <a:t>h(n) ≤ c(n, n') + h(n')</a:t>
            </a:r>
            <a:endParaRPr lang="en-US" sz="1050" dirty="0"/>
          </a:p>
        </p:txBody>
      </p:sp>
      <p:sp>
        <p:nvSpPr>
          <p:cNvPr id="29" name="Text 27"/>
          <p:cNvSpPr/>
          <p:nvPr/>
        </p:nvSpPr>
        <p:spPr>
          <a:xfrm>
            <a:off x="6217920" y="3547872"/>
            <a:ext cx="2468880" cy="1143000"/>
          </a:xfrm>
          <a:prstGeom prst="rect">
            <a:avLst/>
          </a:prstGeom>
          <a:noFill/>
          <a:ln/>
        </p:spPr>
        <p:txBody>
          <a:bodyPr wrap="square" lIns="0" tIns="0" rIns="0" bIns="0" rtlCol="0" anchor="ctr"/>
          <a:lstStyle/>
          <a:p>
            <a:pPr indent="0" marL="0">
              <a:buNone/>
            </a:pPr>
            <a:r>
              <a:rPr lang="en-US" sz="950" dirty="0">
                <a:solidFill>
                  <a:srgbClr val="BDC3C7"/>
                </a:solidFill>
                <a:latin typeface="Calibri" pitchFamily="34" charset="0"/>
                <a:ea typeface="Calibri" pitchFamily="34" charset="-122"/>
                <a:cs typeface="Calibri" pitchFamily="34" charset="-120"/>
              </a:rPr>
              <a:t>f values are non-decreasing along any path → no re-expansion needed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457200" y="164592"/>
            <a:ext cx="8229600" cy="548640"/>
          </a:xfrm>
          <a:prstGeom prst="rect">
            <a:avLst/>
          </a:prstGeom>
          <a:noFill/>
          <a:ln/>
        </p:spPr>
        <p:txBody>
          <a:bodyPr wrap="square" lIns="0" tIns="0" rIns="0" bIns="0" rtlCol="0" anchor="ctr"/>
          <a:lstStyle/>
          <a:p>
            <a:pPr algn="l" indent="0" marL="0">
              <a:buNone/>
            </a:pPr>
            <a:r>
              <a:rPr lang="en-US" sz="2800" b="1" dirty="0">
                <a:solidFill>
                  <a:srgbClr val="0D1B2A"/>
                </a:solidFill>
                <a:latin typeface="Calibri" pitchFamily="34" charset="0"/>
                <a:ea typeface="Calibri" pitchFamily="34" charset="-122"/>
                <a:cs typeface="Calibri" pitchFamily="34" charset="-120"/>
              </a:rPr>
              <a:t>A* Algorithm — Pseudocode</a:t>
            </a:r>
            <a:endParaRPr lang="en-US" sz="2800" dirty="0"/>
          </a:p>
        </p:txBody>
      </p:sp>
      <p:sp>
        <p:nvSpPr>
          <p:cNvPr id="3" name="Shape 1"/>
          <p:cNvSpPr/>
          <p:nvPr/>
        </p:nvSpPr>
        <p:spPr>
          <a:xfrm>
            <a:off x="457200" y="960120"/>
            <a:ext cx="8229600" cy="22860"/>
          </a:xfrm>
          <a:prstGeom prst="rect">
            <a:avLst/>
          </a:prstGeom>
          <a:solidFill>
            <a:srgbClr val="1ABC9C"/>
          </a:solidFill>
          <a:ln w="12700">
            <a:solidFill>
              <a:srgbClr val="1ABC9C"/>
            </a:solidFill>
            <a:prstDash val="solid"/>
          </a:ln>
        </p:spPr>
      </p:sp>
      <p:sp>
        <p:nvSpPr>
          <p:cNvPr id="4" name="Shape 2"/>
          <p:cNvSpPr/>
          <p:nvPr/>
        </p:nvSpPr>
        <p:spPr>
          <a:xfrm>
            <a:off x="457200" y="1051560"/>
            <a:ext cx="5394960" cy="3840480"/>
          </a:xfrm>
          <a:prstGeom prst="rect">
            <a:avLst/>
          </a:prstGeom>
          <a:solidFill>
            <a:srgbClr val="0D1B2A"/>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594360" y="1115568"/>
            <a:ext cx="5120640" cy="320040"/>
          </a:xfrm>
          <a:prstGeom prst="rect">
            <a:avLst/>
          </a:prstGeom>
          <a:noFill/>
          <a:ln/>
        </p:spPr>
        <p:txBody>
          <a:bodyPr wrap="square" lIns="0" tIns="0" rIns="0" bIns="0" rtlCol="0" anchor="ctr"/>
          <a:lstStyle/>
          <a:p>
            <a:pPr indent="0" marL="0">
              <a:buNone/>
            </a:pPr>
            <a:r>
              <a:rPr lang="en-US" sz="1000" b="1" dirty="0">
                <a:solidFill>
                  <a:srgbClr val="1ABC9C"/>
                </a:solidFill>
                <a:latin typeface="Consolas" pitchFamily="34" charset="0"/>
                <a:ea typeface="Consolas" pitchFamily="34" charset="-122"/>
                <a:cs typeface="Consolas" pitchFamily="34" charset="-120"/>
              </a:rPr>
              <a:t>A_STAR(Graph G, Node start, Node goal)</a:t>
            </a:r>
            <a:endParaRPr lang="en-US" sz="1000" dirty="0"/>
          </a:p>
        </p:txBody>
      </p:sp>
      <p:sp>
        <p:nvSpPr>
          <p:cNvPr id="6" name="Text 4"/>
          <p:cNvSpPr/>
          <p:nvPr/>
        </p:nvSpPr>
        <p:spPr>
          <a:xfrm>
            <a:off x="594360" y="1463040"/>
            <a:ext cx="5120640" cy="201168"/>
          </a:xfrm>
          <a:prstGeom prst="rect">
            <a:avLst/>
          </a:prstGeom>
          <a:noFill/>
          <a:ln/>
        </p:spPr>
        <p:txBody>
          <a:bodyPr wrap="square" lIns="0" tIns="0" rIns="0" bIns="0" rtlCol="0" anchor="ctr"/>
          <a:lstStyle/>
          <a:p>
            <a:pPr indent="0" marL="0">
              <a:buNone/>
            </a:pPr>
            <a:r>
              <a:rPr lang="en-US" sz="850" dirty="0">
                <a:solidFill>
                  <a:srgbClr val="FFFFFF"/>
                </a:solidFill>
                <a:latin typeface="Consolas" pitchFamily="34" charset="0"/>
                <a:ea typeface="Consolas" pitchFamily="34" charset="-122"/>
                <a:cs typeface="Consolas" pitchFamily="34" charset="-120"/>
              </a:rPr>
              <a:t>  open_set  ← MinPriorityQueue()</a:t>
            </a:r>
            <a:endParaRPr lang="en-US" sz="850" dirty="0"/>
          </a:p>
        </p:txBody>
      </p:sp>
      <p:sp>
        <p:nvSpPr>
          <p:cNvPr id="7" name="Text 5"/>
          <p:cNvSpPr/>
          <p:nvPr/>
        </p:nvSpPr>
        <p:spPr>
          <a:xfrm>
            <a:off x="594360" y="1650492"/>
            <a:ext cx="5120640" cy="201168"/>
          </a:xfrm>
          <a:prstGeom prst="rect">
            <a:avLst/>
          </a:prstGeom>
          <a:noFill/>
          <a:ln/>
        </p:spPr>
        <p:txBody>
          <a:bodyPr wrap="square" lIns="0" tIns="0" rIns="0" bIns="0" rtlCol="0" anchor="ctr"/>
          <a:lstStyle/>
          <a:p>
            <a:pPr indent="0" marL="0">
              <a:buNone/>
            </a:pPr>
            <a:r>
              <a:rPr lang="en-US" sz="850" dirty="0">
                <a:solidFill>
                  <a:srgbClr val="FFFFFF"/>
                </a:solidFill>
                <a:latin typeface="Consolas" pitchFamily="34" charset="0"/>
                <a:ea typeface="Consolas" pitchFamily="34" charset="-122"/>
                <a:cs typeface="Consolas" pitchFamily="34" charset="-120"/>
              </a:rPr>
              <a:t>  open_set.insert(start, priority=0)</a:t>
            </a:r>
            <a:endParaRPr lang="en-US" sz="850" dirty="0"/>
          </a:p>
        </p:txBody>
      </p:sp>
      <p:sp>
        <p:nvSpPr>
          <p:cNvPr id="8" name="Text 6"/>
          <p:cNvSpPr/>
          <p:nvPr/>
        </p:nvSpPr>
        <p:spPr>
          <a:xfrm>
            <a:off x="594360" y="1837944"/>
            <a:ext cx="5120640" cy="201168"/>
          </a:xfrm>
          <a:prstGeom prst="rect">
            <a:avLst/>
          </a:prstGeom>
          <a:noFill/>
          <a:ln/>
        </p:spPr>
        <p:txBody>
          <a:bodyPr wrap="square" lIns="0" tIns="0" rIns="0" bIns="0" rtlCol="0" anchor="ctr"/>
          <a:lstStyle/>
          <a:p>
            <a:pPr indent="0" marL="0">
              <a:buNone/>
            </a:pPr>
            <a:r>
              <a:rPr lang="en-US" sz="850" dirty="0">
                <a:solidFill>
                  <a:srgbClr val="FFFFFF"/>
                </a:solidFill>
                <a:latin typeface="Consolas" pitchFamily="34" charset="0"/>
                <a:ea typeface="Consolas" pitchFamily="34" charset="-122"/>
                <a:cs typeface="Consolas" pitchFamily="34" charset="-120"/>
              </a:rPr>
              <a:t>  g[start] ← 0</a:t>
            </a:r>
            <a:endParaRPr lang="en-US" sz="850" dirty="0"/>
          </a:p>
        </p:txBody>
      </p:sp>
      <p:sp>
        <p:nvSpPr>
          <p:cNvPr id="9" name="Text 7"/>
          <p:cNvSpPr/>
          <p:nvPr/>
        </p:nvSpPr>
        <p:spPr>
          <a:xfrm>
            <a:off x="594360" y="2025396"/>
            <a:ext cx="5120640" cy="201168"/>
          </a:xfrm>
          <a:prstGeom prst="rect">
            <a:avLst/>
          </a:prstGeom>
          <a:noFill/>
          <a:ln/>
        </p:spPr>
        <p:txBody>
          <a:bodyPr wrap="square" lIns="0" tIns="0" rIns="0" bIns="0" rtlCol="0" anchor="ctr"/>
          <a:lstStyle/>
          <a:p>
            <a:pPr indent="0" marL="0">
              <a:buNone/>
            </a:pPr>
            <a:r>
              <a:rPr lang="en-US" sz="850" dirty="0">
                <a:solidFill>
                  <a:srgbClr val="FFFFFF"/>
                </a:solidFill>
                <a:latin typeface="Consolas" pitchFamily="34" charset="0"/>
                <a:ea typeface="Consolas" pitchFamily="34" charset="-122"/>
                <a:cs typeface="Consolas" pitchFamily="34" charset="-120"/>
              </a:rPr>
              <a:t>  f[start] ← h(start, goal)</a:t>
            </a:r>
            <a:endParaRPr lang="en-US" sz="850" dirty="0"/>
          </a:p>
        </p:txBody>
      </p:sp>
      <p:sp>
        <p:nvSpPr>
          <p:cNvPr id="10" name="Text 8"/>
          <p:cNvSpPr/>
          <p:nvPr/>
        </p:nvSpPr>
        <p:spPr>
          <a:xfrm>
            <a:off x="594360" y="2212848"/>
            <a:ext cx="5120640" cy="201168"/>
          </a:xfrm>
          <a:prstGeom prst="rect">
            <a:avLst/>
          </a:prstGeom>
          <a:noFill/>
          <a:ln/>
        </p:spPr>
        <p:txBody>
          <a:bodyPr wrap="square" lIns="0" tIns="0" rIns="0" bIns="0" rtlCol="0" anchor="ctr"/>
          <a:lstStyle/>
          <a:p>
            <a:pPr indent="0" marL="0">
              <a:buNone/>
            </a:pPr>
            <a:r>
              <a:rPr lang="en-US" sz="850" dirty="0">
                <a:solidFill>
                  <a:srgbClr val="FFFFFF"/>
                </a:solidFill>
                <a:latin typeface="Consolas" pitchFamily="34" charset="0"/>
                <a:ea typeface="Consolas" pitchFamily="34" charset="-122"/>
                <a:cs typeface="Consolas" pitchFamily="34" charset="-120"/>
              </a:rPr>
              <a:t>  parent[start] ← null</a:t>
            </a:r>
            <a:endParaRPr lang="en-US" sz="850" dirty="0"/>
          </a:p>
        </p:txBody>
      </p:sp>
      <p:sp>
        <p:nvSpPr>
          <p:cNvPr id="11" name="Text 9"/>
          <p:cNvSpPr/>
          <p:nvPr/>
        </p:nvSpPr>
        <p:spPr>
          <a:xfrm>
            <a:off x="594360" y="2400300"/>
            <a:ext cx="5120640" cy="201168"/>
          </a:xfrm>
          <a:prstGeom prst="rect">
            <a:avLst/>
          </a:prstGeom>
          <a:noFill/>
          <a:ln/>
        </p:spPr>
        <p:txBody>
          <a:bodyPr wrap="square" lIns="0" tIns="0" rIns="0" bIns="0" rtlCol="0" anchor="ctr"/>
          <a:lstStyle/>
          <a:p>
            <a:pPr indent="0" marL="0">
              <a:buNone/>
            </a:pPr>
            <a:endParaRPr lang="en-US" sz="850" dirty="0"/>
          </a:p>
        </p:txBody>
      </p:sp>
      <p:sp>
        <p:nvSpPr>
          <p:cNvPr id="12" name="Text 10"/>
          <p:cNvSpPr/>
          <p:nvPr/>
        </p:nvSpPr>
        <p:spPr>
          <a:xfrm>
            <a:off x="594360" y="2587752"/>
            <a:ext cx="5120640" cy="201168"/>
          </a:xfrm>
          <a:prstGeom prst="rect">
            <a:avLst/>
          </a:prstGeom>
          <a:noFill/>
          <a:ln/>
        </p:spPr>
        <p:txBody>
          <a:bodyPr wrap="square" lIns="0" tIns="0" rIns="0" bIns="0" rtlCol="0" anchor="ctr"/>
          <a:lstStyle/>
          <a:p>
            <a:pPr indent="0" marL="0">
              <a:buNone/>
            </a:pPr>
            <a:r>
              <a:rPr lang="en-US" sz="850" dirty="0">
                <a:solidFill>
                  <a:srgbClr val="E67E22"/>
                </a:solidFill>
                <a:latin typeface="Consolas" pitchFamily="34" charset="0"/>
                <a:ea typeface="Consolas" pitchFamily="34" charset="-122"/>
                <a:cs typeface="Consolas" pitchFamily="34" charset="-120"/>
              </a:rPr>
              <a:t>  while open_set not empty:</a:t>
            </a:r>
            <a:endParaRPr lang="en-US" sz="850" dirty="0"/>
          </a:p>
        </p:txBody>
      </p:sp>
      <p:sp>
        <p:nvSpPr>
          <p:cNvPr id="13" name="Text 11"/>
          <p:cNvSpPr/>
          <p:nvPr/>
        </p:nvSpPr>
        <p:spPr>
          <a:xfrm>
            <a:off x="594360" y="2775204"/>
            <a:ext cx="5120640" cy="201168"/>
          </a:xfrm>
          <a:prstGeom prst="rect">
            <a:avLst/>
          </a:prstGeom>
          <a:noFill/>
          <a:ln/>
        </p:spPr>
        <p:txBody>
          <a:bodyPr wrap="square" lIns="0" tIns="0" rIns="0" bIns="0" rtlCol="0" anchor="ctr"/>
          <a:lstStyle/>
          <a:p>
            <a:pPr indent="0" marL="0">
              <a:buNone/>
            </a:pPr>
            <a:r>
              <a:rPr lang="en-US" sz="850" dirty="0">
                <a:solidFill>
                  <a:srgbClr val="FFFFFF"/>
                </a:solidFill>
                <a:latin typeface="Consolas" pitchFamily="34" charset="0"/>
                <a:ea typeface="Consolas" pitchFamily="34" charset="-122"/>
                <a:cs typeface="Consolas" pitchFamily="34" charset="-120"/>
              </a:rPr>
              <a:t>    current ← open_set.extract_min()</a:t>
            </a:r>
            <a:endParaRPr lang="en-US" sz="850" dirty="0"/>
          </a:p>
        </p:txBody>
      </p:sp>
      <p:sp>
        <p:nvSpPr>
          <p:cNvPr id="14" name="Text 12"/>
          <p:cNvSpPr/>
          <p:nvPr/>
        </p:nvSpPr>
        <p:spPr>
          <a:xfrm>
            <a:off x="594360" y="2962656"/>
            <a:ext cx="5120640" cy="201168"/>
          </a:xfrm>
          <a:prstGeom prst="rect">
            <a:avLst/>
          </a:prstGeom>
          <a:noFill/>
          <a:ln/>
        </p:spPr>
        <p:txBody>
          <a:bodyPr wrap="square" lIns="0" tIns="0" rIns="0" bIns="0" rtlCol="0" anchor="ctr"/>
          <a:lstStyle/>
          <a:p>
            <a:pPr indent="0" marL="0">
              <a:buNone/>
            </a:pPr>
            <a:r>
              <a:rPr lang="en-US" sz="850" dirty="0">
                <a:solidFill>
                  <a:srgbClr val="3498DB"/>
                </a:solidFill>
                <a:latin typeface="Consolas" pitchFamily="34" charset="0"/>
                <a:ea typeface="Consolas" pitchFamily="34" charset="-122"/>
                <a:cs typeface="Consolas" pitchFamily="34" charset="-120"/>
              </a:rPr>
              <a:t>    if current == goal:</a:t>
            </a:r>
            <a:endParaRPr lang="en-US" sz="850" dirty="0"/>
          </a:p>
        </p:txBody>
      </p:sp>
      <p:sp>
        <p:nvSpPr>
          <p:cNvPr id="15" name="Text 13"/>
          <p:cNvSpPr/>
          <p:nvPr/>
        </p:nvSpPr>
        <p:spPr>
          <a:xfrm>
            <a:off x="594360" y="3150108"/>
            <a:ext cx="5120640" cy="201168"/>
          </a:xfrm>
          <a:prstGeom prst="rect">
            <a:avLst/>
          </a:prstGeom>
          <a:noFill/>
          <a:ln/>
        </p:spPr>
        <p:txBody>
          <a:bodyPr wrap="square" lIns="0" tIns="0" rIns="0" bIns="0" rtlCol="0" anchor="ctr"/>
          <a:lstStyle/>
          <a:p>
            <a:pPr indent="0" marL="0">
              <a:buNone/>
            </a:pPr>
            <a:r>
              <a:rPr lang="en-US" sz="850" dirty="0">
                <a:solidFill>
                  <a:srgbClr val="3498DB"/>
                </a:solidFill>
                <a:latin typeface="Consolas" pitchFamily="34" charset="0"/>
                <a:ea typeface="Consolas" pitchFamily="34" charset="-122"/>
                <a:cs typeface="Consolas" pitchFamily="34" charset="-120"/>
              </a:rPr>
              <a:t>      return RECONSTRUCT_PATH(parent, goal)</a:t>
            </a:r>
            <a:endParaRPr lang="en-US" sz="850" dirty="0"/>
          </a:p>
        </p:txBody>
      </p:sp>
      <p:sp>
        <p:nvSpPr>
          <p:cNvPr id="16" name="Text 14"/>
          <p:cNvSpPr/>
          <p:nvPr/>
        </p:nvSpPr>
        <p:spPr>
          <a:xfrm>
            <a:off x="594360" y="3337560"/>
            <a:ext cx="5120640" cy="201168"/>
          </a:xfrm>
          <a:prstGeom prst="rect">
            <a:avLst/>
          </a:prstGeom>
          <a:noFill/>
          <a:ln/>
        </p:spPr>
        <p:txBody>
          <a:bodyPr wrap="square" lIns="0" tIns="0" rIns="0" bIns="0" rtlCol="0" anchor="ctr"/>
          <a:lstStyle/>
          <a:p>
            <a:pPr indent="0" marL="0">
              <a:buNone/>
            </a:pPr>
            <a:r>
              <a:rPr lang="en-US" sz="850" dirty="0">
                <a:solidFill>
                  <a:srgbClr val="27AE60"/>
                </a:solidFill>
                <a:latin typeface="Consolas" pitchFamily="34" charset="0"/>
                <a:ea typeface="Consolas" pitchFamily="34" charset="-122"/>
                <a:cs typeface="Consolas" pitchFamily="34" charset="-120"/>
              </a:rPr>
              <a:t>    for each neighbor n of current:</a:t>
            </a:r>
            <a:endParaRPr lang="en-US" sz="850" dirty="0"/>
          </a:p>
        </p:txBody>
      </p:sp>
      <p:sp>
        <p:nvSpPr>
          <p:cNvPr id="17" name="Text 15"/>
          <p:cNvSpPr/>
          <p:nvPr/>
        </p:nvSpPr>
        <p:spPr>
          <a:xfrm>
            <a:off x="594360" y="3525012"/>
            <a:ext cx="5120640" cy="201168"/>
          </a:xfrm>
          <a:prstGeom prst="rect">
            <a:avLst/>
          </a:prstGeom>
          <a:noFill/>
          <a:ln/>
        </p:spPr>
        <p:txBody>
          <a:bodyPr wrap="square" lIns="0" tIns="0" rIns="0" bIns="0" rtlCol="0" anchor="ctr"/>
          <a:lstStyle/>
          <a:p>
            <a:pPr indent="0" marL="0">
              <a:buNone/>
            </a:pPr>
            <a:r>
              <a:rPr lang="en-US" sz="850" dirty="0">
                <a:solidFill>
                  <a:srgbClr val="FFFFFF"/>
                </a:solidFill>
                <a:latin typeface="Consolas" pitchFamily="34" charset="0"/>
                <a:ea typeface="Consolas" pitchFamily="34" charset="-122"/>
                <a:cs typeface="Consolas" pitchFamily="34" charset="-120"/>
              </a:rPr>
              <a:t>      tent_g ← g[current] + w(current, n)</a:t>
            </a:r>
            <a:endParaRPr lang="en-US" sz="850" dirty="0"/>
          </a:p>
        </p:txBody>
      </p:sp>
      <p:sp>
        <p:nvSpPr>
          <p:cNvPr id="18" name="Text 16"/>
          <p:cNvSpPr/>
          <p:nvPr/>
        </p:nvSpPr>
        <p:spPr>
          <a:xfrm>
            <a:off x="594360" y="3712464"/>
            <a:ext cx="5120640" cy="201168"/>
          </a:xfrm>
          <a:prstGeom prst="rect">
            <a:avLst/>
          </a:prstGeom>
          <a:noFill/>
          <a:ln/>
        </p:spPr>
        <p:txBody>
          <a:bodyPr wrap="square" lIns="0" tIns="0" rIns="0" bIns="0" rtlCol="0" anchor="ctr"/>
          <a:lstStyle/>
          <a:p>
            <a:pPr indent="0" marL="0">
              <a:buNone/>
            </a:pPr>
            <a:r>
              <a:rPr lang="en-US" sz="850" dirty="0">
                <a:solidFill>
                  <a:srgbClr val="1ABC9C"/>
                </a:solidFill>
                <a:latin typeface="Consolas" pitchFamily="34" charset="0"/>
                <a:ea typeface="Consolas" pitchFamily="34" charset="-122"/>
                <a:cs typeface="Consolas" pitchFamily="34" charset="-120"/>
              </a:rPr>
              <a:t>      if tent_g &lt; g[n]:   // better path</a:t>
            </a:r>
            <a:endParaRPr lang="en-US" sz="850" dirty="0"/>
          </a:p>
        </p:txBody>
      </p:sp>
      <p:sp>
        <p:nvSpPr>
          <p:cNvPr id="19" name="Text 17"/>
          <p:cNvSpPr/>
          <p:nvPr/>
        </p:nvSpPr>
        <p:spPr>
          <a:xfrm>
            <a:off x="594360" y="3899916"/>
            <a:ext cx="5120640" cy="201168"/>
          </a:xfrm>
          <a:prstGeom prst="rect">
            <a:avLst/>
          </a:prstGeom>
          <a:noFill/>
          <a:ln/>
        </p:spPr>
        <p:txBody>
          <a:bodyPr wrap="square" lIns="0" tIns="0" rIns="0" bIns="0" rtlCol="0" anchor="ctr"/>
          <a:lstStyle/>
          <a:p>
            <a:pPr indent="0" marL="0">
              <a:buNone/>
            </a:pPr>
            <a:r>
              <a:rPr lang="en-US" sz="850" dirty="0">
                <a:solidFill>
                  <a:srgbClr val="FFFFFF"/>
                </a:solidFill>
                <a:latin typeface="Consolas" pitchFamily="34" charset="0"/>
                <a:ea typeface="Consolas" pitchFamily="34" charset="-122"/>
                <a:cs typeface="Consolas" pitchFamily="34" charset="-120"/>
              </a:rPr>
              <a:t>        parent[n] ← current</a:t>
            </a:r>
            <a:endParaRPr lang="en-US" sz="850" dirty="0"/>
          </a:p>
        </p:txBody>
      </p:sp>
      <p:sp>
        <p:nvSpPr>
          <p:cNvPr id="20" name="Text 18"/>
          <p:cNvSpPr/>
          <p:nvPr/>
        </p:nvSpPr>
        <p:spPr>
          <a:xfrm>
            <a:off x="594360" y="4087368"/>
            <a:ext cx="5120640" cy="201168"/>
          </a:xfrm>
          <a:prstGeom prst="rect">
            <a:avLst/>
          </a:prstGeom>
          <a:noFill/>
          <a:ln/>
        </p:spPr>
        <p:txBody>
          <a:bodyPr wrap="square" lIns="0" tIns="0" rIns="0" bIns="0" rtlCol="0" anchor="ctr"/>
          <a:lstStyle/>
          <a:p>
            <a:pPr indent="0" marL="0">
              <a:buNone/>
            </a:pPr>
            <a:r>
              <a:rPr lang="en-US" sz="850" dirty="0">
                <a:solidFill>
                  <a:srgbClr val="FFFFFF"/>
                </a:solidFill>
                <a:latin typeface="Consolas" pitchFamily="34" charset="0"/>
                <a:ea typeface="Consolas" pitchFamily="34" charset="-122"/>
                <a:cs typeface="Consolas" pitchFamily="34" charset="-120"/>
              </a:rPr>
              <a:t>        g[n]       ← tent_g</a:t>
            </a:r>
            <a:endParaRPr lang="en-US" sz="850" dirty="0"/>
          </a:p>
        </p:txBody>
      </p:sp>
      <p:sp>
        <p:nvSpPr>
          <p:cNvPr id="21" name="Text 19"/>
          <p:cNvSpPr/>
          <p:nvPr/>
        </p:nvSpPr>
        <p:spPr>
          <a:xfrm>
            <a:off x="594360" y="4274820"/>
            <a:ext cx="5120640" cy="201168"/>
          </a:xfrm>
          <a:prstGeom prst="rect">
            <a:avLst/>
          </a:prstGeom>
          <a:noFill/>
          <a:ln/>
        </p:spPr>
        <p:txBody>
          <a:bodyPr wrap="square" lIns="0" tIns="0" rIns="0" bIns="0" rtlCol="0" anchor="ctr"/>
          <a:lstStyle/>
          <a:p>
            <a:pPr indent="0" marL="0">
              <a:buNone/>
            </a:pPr>
            <a:r>
              <a:rPr lang="en-US" sz="850" dirty="0">
                <a:solidFill>
                  <a:srgbClr val="FFFFFF"/>
                </a:solidFill>
                <a:latin typeface="Consolas" pitchFamily="34" charset="0"/>
                <a:ea typeface="Consolas" pitchFamily="34" charset="-122"/>
                <a:cs typeface="Consolas" pitchFamily="34" charset="-120"/>
              </a:rPr>
              <a:t>        f[n]       ← g[n] + h(n, goal)</a:t>
            </a:r>
            <a:endParaRPr lang="en-US" sz="850" dirty="0"/>
          </a:p>
        </p:txBody>
      </p:sp>
      <p:sp>
        <p:nvSpPr>
          <p:cNvPr id="22" name="Text 20"/>
          <p:cNvSpPr/>
          <p:nvPr/>
        </p:nvSpPr>
        <p:spPr>
          <a:xfrm>
            <a:off x="594360" y="4462272"/>
            <a:ext cx="5120640" cy="201168"/>
          </a:xfrm>
          <a:prstGeom prst="rect">
            <a:avLst/>
          </a:prstGeom>
          <a:noFill/>
          <a:ln/>
        </p:spPr>
        <p:txBody>
          <a:bodyPr wrap="square" lIns="0" tIns="0" rIns="0" bIns="0" rtlCol="0" anchor="ctr"/>
          <a:lstStyle/>
          <a:p>
            <a:pPr indent="0" marL="0">
              <a:buNone/>
            </a:pPr>
            <a:r>
              <a:rPr lang="en-US" sz="850" dirty="0">
                <a:solidFill>
                  <a:srgbClr val="FFFFFF"/>
                </a:solidFill>
                <a:latin typeface="Consolas" pitchFamily="34" charset="0"/>
                <a:ea typeface="Consolas" pitchFamily="34" charset="-122"/>
                <a:cs typeface="Consolas" pitchFamily="34" charset="-120"/>
              </a:rPr>
              <a:t>        open_set.insert_or_update(n, f[n])</a:t>
            </a:r>
            <a:endParaRPr lang="en-US" sz="850" dirty="0"/>
          </a:p>
        </p:txBody>
      </p:sp>
      <p:sp>
        <p:nvSpPr>
          <p:cNvPr id="23" name="Text 21"/>
          <p:cNvSpPr/>
          <p:nvPr/>
        </p:nvSpPr>
        <p:spPr>
          <a:xfrm>
            <a:off x="594360" y="4649724"/>
            <a:ext cx="5120640" cy="201168"/>
          </a:xfrm>
          <a:prstGeom prst="rect">
            <a:avLst/>
          </a:prstGeom>
          <a:noFill/>
          <a:ln/>
        </p:spPr>
        <p:txBody>
          <a:bodyPr wrap="square" lIns="0" tIns="0" rIns="0" bIns="0" rtlCol="0" anchor="ctr"/>
          <a:lstStyle/>
          <a:p>
            <a:pPr indent="0" marL="0">
              <a:buNone/>
            </a:pPr>
            <a:r>
              <a:rPr lang="en-US" sz="850" dirty="0">
                <a:solidFill>
                  <a:srgbClr val="E74C3C"/>
                </a:solidFill>
                <a:latin typeface="Consolas" pitchFamily="34" charset="0"/>
                <a:ea typeface="Consolas" pitchFamily="34" charset="-122"/>
                <a:cs typeface="Consolas" pitchFamily="34" charset="-120"/>
              </a:rPr>
              <a:t>  return FAILURE</a:t>
            </a:r>
            <a:endParaRPr lang="en-US" sz="850" dirty="0"/>
          </a:p>
        </p:txBody>
      </p:sp>
      <p:sp>
        <p:nvSpPr>
          <p:cNvPr id="24" name="Shape 22"/>
          <p:cNvSpPr/>
          <p:nvPr/>
        </p:nvSpPr>
        <p:spPr>
          <a:xfrm>
            <a:off x="5989320" y="1417320"/>
            <a:ext cx="2743200" cy="658368"/>
          </a:xfrm>
          <a:prstGeom prst="rect">
            <a:avLst/>
          </a:prstGeom>
          <a:solidFill>
            <a:srgbClr val="FFFFFF"/>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5989320" y="1417320"/>
            <a:ext cx="64008" cy="658368"/>
          </a:xfrm>
          <a:prstGeom prst="rect">
            <a:avLst/>
          </a:prstGeom>
          <a:solidFill>
            <a:srgbClr val="1ABC9C"/>
          </a:solidFill>
          <a:ln w="12700">
            <a:solidFill>
              <a:srgbClr val="1ABC9C"/>
            </a:solidFill>
            <a:prstDash val="solid"/>
          </a:ln>
        </p:spPr>
      </p:sp>
      <p:sp>
        <p:nvSpPr>
          <p:cNvPr id="26" name="Text 24"/>
          <p:cNvSpPr/>
          <p:nvPr/>
        </p:nvSpPr>
        <p:spPr>
          <a:xfrm>
            <a:off x="6172200" y="1472184"/>
            <a:ext cx="2468880" cy="256032"/>
          </a:xfrm>
          <a:prstGeom prst="rect">
            <a:avLst/>
          </a:prstGeom>
          <a:noFill/>
          <a:ln/>
        </p:spPr>
        <p:txBody>
          <a:bodyPr wrap="square" lIns="0" tIns="0" rIns="0" bIns="0" rtlCol="0" anchor="ctr"/>
          <a:lstStyle/>
          <a:p>
            <a:pPr indent="0" marL="0">
              <a:buNone/>
            </a:pPr>
            <a:r>
              <a:rPr lang="en-US" sz="1100" b="1" dirty="0">
                <a:solidFill>
                  <a:srgbClr val="1ABC9C"/>
                </a:solidFill>
                <a:latin typeface="Calibri" pitchFamily="34" charset="0"/>
                <a:ea typeface="Calibri" pitchFamily="34" charset="-122"/>
                <a:cs typeface="Calibri" pitchFamily="34" charset="-120"/>
              </a:rPr>
              <a:t>Init</a:t>
            </a:r>
            <a:endParaRPr lang="en-US" sz="1100" dirty="0"/>
          </a:p>
        </p:txBody>
      </p:sp>
      <p:sp>
        <p:nvSpPr>
          <p:cNvPr id="27" name="Text 25"/>
          <p:cNvSpPr/>
          <p:nvPr/>
        </p:nvSpPr>
        <p:spPr>
          <a:xfrm>
            <a:off x="6172200" y="1728216"/>
            <a:ext cx="2468880" cy="292608"/>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min-heap keyed on f; g[ ] = ∞ by default</a:t>
            </a:r>
            <a:endParaRPr lang="en-US" sz="900" dirty="0"/>
          </a:p>
        </p:txBody>
      </p:sp>
      <p:sp>
        <p:nvSpPr>
          <p:cNvPr id="28" name="Shape 26"/>
          <p:cNvSpPr/>
          <p:nvPr/>
        </p:nvSpPr>
        <p:spPr>
          <a:xfrm>
            <a:off x="5989320" y="2377440"/>
            <a:ext cx="2743200" cy="658368"/>
          </a:xfrm>
          <a:prstGeom prst="rect">
            <a:avLst/>
          </a:prstGeom>
          <a:solidFill>
            <a:srgbClr val="FFFFFF"/>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29" name="Shape 27"/>
          <p:cNvSpPr/>
          <p:nvPr/>
        </p:nvSpPr>
        <p:spPr>
          <a:xfrm>
            <a:off x="5989320" y="2377440"/>
            <a:ext cx="64008" cy="658368"/>
          </a:xfrm>
          <a:prstGeom prst="rect">
            <a:avLst/>
          </a:prstGeom>
          <a:solidFill>
            <a:srgbClr val="E67E22"/>
          </a:solidFill>
          <a:ln w="12700">
            <a:solidFill>
              <a:srgbClr val="E67E22"/>
            </a:solidFill>
            <a:prstDash val="solid"/>
          </a:ln>
        </p:spPr>
      </p:sp>
      <p:sp>
        <p:nvSpPr>
          <p:cNvPr id="30" name="Text 28"/>
          <p:cNvSpPr/>
          <p:nvPr/>
        </p:nvSpPr>
        <p:spPr>
          <a:xfrm>
            <a:off x="6172200" y="2432304"/>
            <a:ext cx="2468880" cy="256032"/>
          </a:xfrm>
          <a:prstGeom prst="rect">
            <a:avLst/>
          </a:prstGeom>
          <a:noFill/>
          <a:ln/>
        </p:spPr>
        <p:txBody>
          <a:bodyPr wrap="square" lIns="0" tIns="0" rIns="0" bIns="0" rtlCol="0" anchor="ctr"/>
          <a:lstStyle/>
          <a:p>
            <a:pPr indent="0" marL="0">
              <a:buNone/>
            </a:pPr>
            <a:r>
              <a:rPr lang="en-US" sz="1100" b="1" dirty="0">
                <a:solidFill>
                  <a:srgbClr val="E67E22"/>
                </a:solidFill>
                <a:latin typeface="Calibri" pitchFamily="34" charset="0"/>
                <a:ea typeface="Calibri" pitchFamily="34" charset="-122"/>
                <a:cs typeface="Calibri" pitchFamily="34" charset="-120"/>
              </a:rPr>
              <a:t>Loop</a:t>
            </a:r>
            <a:endParaRPr lang="en-US" sz="1100" dirty="0"/>
          </a:p>
        </p:txBody>
      </p:sp>
      <p:sp>
        <p:nvSpPr>
          <p:cNvPr id="31" name="Text 29"/>
          <p:cNvSpPr/>
          <p:nvPr/>
        </p:nvSpPr>
        <p:spPr>
          <a:xfrm>
            <a:off x="6172200" y="2688336"/>
            <a:ext cx="2468880" cy="292608"/>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Always expands node with lowest f(n) first</a:t>
            </a:r>
            <a:endParaRPr lang="en-US" sz="900" dirty="0"/>
          </a:p>
        </p:txBody>
      </p:sp>
      <p:sp>
        <p:nvSpPr>
          <p:cNvPr id="32" name="Shape 30"/>
          <p:cNvSpPr/>
          <p:nvPr/>
        </p:nvSpPr>
        <p:spPr>
          <a:xfrm>
            <a:off x="5989320" y="3017520"/>
            <a:ext cx="2743200" cy="658368"/>
          </a:xfrm>
          <a:prstGeom prst="rect">
            <a:avLst/>
          </a:prstGeom>
          <a:solidFill>
            <a:srgbClr val="FFFFFF"/>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5989320" y="3017520"/>
            <a:ext cx="64008" cy="658368"/>
          </a:xfrm>
          <a:prstGeom prst="rect">
            <a:avLst/>
          </a:prstGeom>
          <a:solidFill>
            <a:srgbClr val="3498DB"/>
          </a:solidFill>
          <a:ln w="12700">
            <a:solidFill>
              <a:srgbClr val="3498DB"/>
            </a:solidFill>
            <a:prstDash val="solid"/>
          </a:ln>
        </p:spPr>
      </p:sp>
      <p:sp>
        <p:nvSpPr>
          <p:cNvPr id="34" name="Text 32"/>
          <p:cNvSpPr/>
          <p:nvPr/>
        </p:nvSpPr>
        <p:spPr>
          <a:xfrm>
            <a:off x="6172200" y="3072384"/>
            <a:ext cx="2468880" cy="256032"/>
          </a:xfrm>
          <a:prstGeom prst="rect">
            <a:avLst/>
          </a:prstGeom>
          <a:noFill/>
          <a:ln/>
        </p:spPr>
        <p:txBody>
          <a:bodyPr wrap="square" lIns="0" tIns="0" rIns="0" bIns="0" rtlCol="0" anchor="ctr"/>
          <a:lstStyle/>
          <a:p>
            <a:pPr indent="0" marL="0">
              <a:buNone/>
            </a:pPr>
            <a:r>
              <a:rPr lang="en-US" sz="1100" b="1" dirty="0">
                <a:solidFill>
                  <a:srgbClr val="3498DB"/>
                </a:solidFill>
                <a:latin typeface="Calibri" pitchFamily="34" charset="0"/>
                <a:ea typeface="Calibri" pitchFamily="34" charset="-122"/>
                <a:cs typeface="Calibri" pitchFamily="34" charset="-120"/>
              </a:rPr>
              <a:t>Goal</a:t>
            </a:r>
            <a:endParaRPr lang="en-US" sz="1100" dirty="0"/>
          </a:p>
        </p:txBody>
      </p:sp>
      <p:sp>
        <p:nvSpPr>
          <p:cNvPr id="35" name="Text 33"/>
          <p:cNvSpPr/>
          <p:nvPr/>
        </p:nvSpPr>
        <p:spPr>
          <a:xfrm>
            <a:off x="6172200" y="3328416"/>
            <a:ext cx="2468880" cy="292608"/>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Terminate on extraction, not on insertion</a:t>
            </a:r>
            <a:endParaRPr lang="en-US" sz="900" dirty="0"/>
          </a:p>
        </p:txBody>
      </p:sp>
      <p:sp>
        <p:nvSpPr>
          <p:cNvPr id="36" name="Shape 34"/>
          <p:cNvSpPr/>
          <p:nvPr/>
        </p:nvSpPr>
        <p:spPr>
          <a:xfrm>
            <a:off x="5989320" y="3493008"/>
            <a:ext cx="2743200" cy="658368"/>
          </a:xfrm>
          <a:prstGeom prst="rect">
            <a:avLst/>
          </a:prstGeom>
          <a:solidFill>
            <a:srgbClr val="FFFFFF"/>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37" name="Shape 35"/>
          <p:cNvSpPr/>
          <p:nvPr/>
        </p:nvSpPr>
        <p:spPr>
          <a:xfrm>
            <a:off x="5989320" y="3493008"/>
            <a:ext cx="64008" cy="658368"/>
          </a:xfrm>
          <a:prstGeom prst="rect">
            <a:avLst/>
          </a:prstGeom>
          <a:solidFill>
            <a:srgbClr val="27AE60"/>
          </a:solidFill>
          <a:ln w="12700">
            <a:solidFill>
              <a:srgbClr val="27AE60"/>
            </a:solidFill>
            <a:prstDash val="solid"/>
          </a:ln>
        </p:spPr>
      </p:sp>
      <p:sp>
        <p:nvSpPr>
          <p:cNvPr id="38" name="Text 36"/>
          <p:cNvSpPr/>
          <p:nvPr/>
        </p:nvSpPr>
        <p:spPr>
          <a:xfrm>
            <a:off x="6172200" y="3547872"/>
            <a:ext cx="2468880" cy="256032"/>
          </a:xfrm>
          <a:prstGeom prst="rect">
            <a:avLst/>
          </a:prstGeom>
          <a:noFill/>
          <a:ln/>
        </p:spPr>
        <p:txBody>
          <a:bodyPr wrap="square" lIns="0" tIns="0" rIns="0" bIns="0" rtlCol="0" anchor="ctr"/>
          <a:lstStyle/>
          <a:p>
            <a:pPr indent="0" marL="0">
              <a:buNone/>
            </a:pPr>
            <a:r>
              <a:rPr lang="en-US" sz="1100" b="1" dirty="0">
                <a:solidFill>
                  <a:srgbClr val="27AE60"/>
                </a:solidFill>
                <a:latin typeface="Calibri" pitchFamily="34" charset="0"/>
                <a:ea typeface="Calibri" pitchFamily="34" charset="-122"/>
                <a:cs typeface="Calibri" pitchFamily="34" charset="-120"/>
              </a:rPr>
              <a:t>Relax</a:t>
            </a:r>
            <a:endParaRPr lang="en-US" sz="1100" dirty="0"/>
          </a:p>
        </p:txBody>
      </p:sp>
      <p:sp>
        <p:nvSpPr>
          <p:cNvPr id="39" name="Text 37"/>
          <p:cNvSpPr/>
          <p:nvPr/>
        </p:nvSpPr>
        <p:spPr>
          <a:xfrm>
            <a:off x="6172200" y="3803904"/>
            <a:ext cx="2468880" cy="292608"/>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Update only if a strictly better path is found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182880"/>
            <a:ext cx="8229600" cy="6858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Proof of Optimality</a:t>
            </a:r>
            <a:endParaRPr lang="en-US" sz="3200" dirty="0"/>
          </a:p>
        </p:txBody>
      </p:sp>
      <p:sp>
        <p:nvSpPr>
          <p:cNvPr id="3" name="Shape 1"/>
          <p:cNvSpPr/>
          <p:nvPr/>
        </p:nvSpPr>
        <p:spPr>
          <a:xfrm>
            <a:off x="457200" y="201168"/>
            <a:ext cx="64008" cy="594360"/>
          </a:xfrm>
          <a:prstGeom prst="ellipse">
            <a:avLst/>
          </a:prstGeom>
          <a:solidFill>
            <a:srgbClr val="1ABC9C"/>
          </a:solidFill>
          <a:ln w="12700">
            <a:solidFill>
              <a:srgbClr val="1ABC9C"/>
            </a:solidFill>
            <a:prstDash val="solid"/>
          </a:ln>
        </p:spPr>
      </p:sp>
      <p:sp>
        <p:nvSpPr>
          <p:cNvPr id="4" name="Shape 2"/>
          <p:cNvSpPr/>
          <p:nvPr/>
        </p:nvSpPr>
        <p:spPr>
          <a:xfrm>
            <a:off x="457200" y="960120"/>
            <a:ext cx="8229600" cy="640080"/>
          </a:xfrm>
          <a:prstGeom prst="rect">
            <a:avLst/>
          </a:prstGeom>
          <a:solidFill>
            <a:srgbClr val="132337"/>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457200" y="960120"/>
            <a:ext cx="8229600" cy="64008"/>
          </a:xfrm>
          <a:prstGeom prst="rect">
            <a:avLst/>
          </a:prstGeom>
          <a:solidFill>
            <a:srgbClr val="1ABC9C"/>
          </a:solidFill>
          <a:ln w="12700">
            <a:solidFill>
              <a:srgbClr val="1ABC9C"/>
            </a:solidFill>
            <a:prstDash val="solid"/>
          </a:ln>
        </p:spPr>
      </p:sp>
      <p:sp>
        <p:nvSpPr>
          <p:cNvPr id="6" name="Text 4"/>
          <p:cNvSpPr/>
          <p:nvPr/>
        </p:nvSpPr>
        <p:spPr>
          <a:xfrm>
            <a:off x="640080" y="1078992"/>
            <a:ext cx="7863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Theorem:  If h is admissible, A* returns an optimal-cost path.</a:t>
            </a:r>
            <a:endParaRPr lang="en-US" sz="1300" dirty="0"/>
          </a:p>
        </p:txBody>
      </p:sp>
      <p:sp>
        <p:nvSpPr>
          <p:cNvPr id="7" name="Shape 5"/>
          <p:cNvSpPr/>
          <p:nvPr/>
        </p:nvSpPr>
        <p:spPr>
          <a:xfrm>
            <a:off x="457200" y="1773936"/>
            <a:ext cx="411480" cy="411480"/>
          </a:xfrm>
          <a:prstGeom prst="ellipse">
            <a:avLst/>
          </a:prstGeom>
          <a:solidFill>
            <a:srgbClr val="1B4F72"/>
          </a:solidFill>
          <a:ln w="12700">
            <a:solidFill>
              <a:srgbClr val="1B4F72"/>
            </a:solidFill>
            <a:prstDash val="solid"/>
          </a:ln>
        </p:spPr>
      </p:sp>
      <p:sp>
        <p:nvSpPr>
          <p:cNvPr id="8" name="Text 6"/>
          <p:cNvSpPr/>
          <p:nvPr/>
        </p:nvSpPr>
        <p:spPr>
          <a:xfrm>
            <a:off x="457200" y="1773936"/>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005840" y="1737360"/>
            <a:ext cx="763524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Let P* be the optimal path with cost C*. Suppose A* returns a suboptimal path with cost C &gt; C*.</a:t>
            </a:r>
            <a:endParaRPr lang="en-US" sz="1100" dirty="0"/>
          </a:p>
        </p:txBody>
      </p:sp>
      <p:sp>
        <p:nvSpPr>
          <p:cNvPr id="10" name="Shape 8"/>
          <p:cNvSpPr/>
          <p:nvPr/>
        </p:nvSpPr>
        <p:spPr>
          <a:xfrm>
            <a:off x="457200" y="2340864"/>
            <a:ext cx="411480" cy="411480"/>
          </a:xfrm>
          <a:prstGeom prst="ellipse">
            <a:avLst/>
          </a:prstGeom>
          <a:solidFill>
            <a:srgbClr val="1B4F72"/>
          </a:solidFill>
          <a:ln w="12700">
            <a:solidFill>
              <a:srgbClr val="1B4F72"/>
            </a:solidFill>
            <a:prstDash val="solid"/>
          </a:ln>
        </p:spPr>
      </p:sp>
      <p:sp>
        <p:nvSpPr>
          <p:cNvPr id="11" name="Text 9"/>
          <p:cNvSpPr/>
          <p:nvPr/>
        </p:nvSpPr>
        <p:spPr>
          <a:xfrm>
            <a:off x="457200" y="2340864"/>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005840" y="2304288"/>
            <a:ext cx="7635240" cy="502920"/>
          </a:xfrm>
          <a:prstGeom prst="rect">
            <a:avLst/>
          </a:prstGeom>
          <a:noFill/>
          <a:ln/>
        </p:spPr>
        <p:txBody>
          <a:bodyPr wrap="square" lIns="0" tIns="0" rIns="0" bIns="0" rtlCol="0" anchor="ctr"/>
          <a:lstStyle/>
          <a:p>
            <a:pPr indent="0" marL="0">
              <a:buNone/>
            </a:pPr>
            <a:r>
              <a:rPr lang="en-US" sz="1100" dirty="0">
                <a:solidFill>
                  <a:srgbClr val="BDC3C7"/>
                </a:solidFill>
                <a:latin typeface="Calibri" pitchFamily="34" charset="0"/>
                <a:ea typeface="Calibri" pitchFamily="34" charset="-122"/>
                <a:cs typeface="Calibri" pitchFamily="34" charset="-120"/>
              </a:rPr>
              <a:t>At termination, some node n' on P* must remain in the open set — A* has not fully explored the optimal path.</a:t>
            </a:r>
            <a:endParaRPr lang="en-US" sz="1100" dirty="0"/>
          </a:p>
        </p:txBody>
      </p:sp>
      <p:sp>
        <p:nvSpPr>
          <p:cNvPr id="13" name="Shape 11"/>
          <p:cNvSpPr/>
          <p:nvPr/>
        </p:nvSpPr>
        <p:spPr>
          <a:xfrm>
            <a:off x="457200" y="2907792"/>
            <a:ext cx="411480" cy="411480"/>
          </a:xfrm>
          <a:prstGeom prst="ellipse">
            <a:avLst/>
          </a:prstGeom>
          <a:solidFill>
            <a:srgbClr val="1B4F72"/>
          </a:solidFill>
          <a:ln w="12700">
            <a:solidFill>
              <a:srgbClr val="1B4F72"/>
            </a:solidFill>
            <a:prstDash val="solid"/>
          </a:ln>
        </p:spPr>
      </p:sp>
      <p:sp>
        <p:nvSpPr>
          <p:cNvPr id="14" name="Text 12"/>
          <p:cNvSpPr/>
          <p:nvPr/>
        </p:nvSpPr>
        <p:spPr>
          <a:xfrm>
            <a:off x="457200" y="2907792"/>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005840" y="2871216"/>
            <a:ext cx="7635240" cy="502920"/>
          </a:xfrm>
          <a:prstGeom prst="rect">
            <a:avLst/>
          </a:prstGeom>
          <a:noFill/>
          <a:ln/>
        </p:spPr>
        <p:txBody>
          <a:bodyPr wrap="square" lIns="0" tIns="0" rIns="0" bIns="0" rtlCol="0" anchor="ctr"/>
          <a:lstStyle/>
          <a:p>
            <a:pPr indent="0" marL="0">
              <a:buNone/>
            </a:pPr>
            <a:r>
              <a:rPr lang="en-US" sz="1100" dirty="0">
                <a:solidFill>
                  <a:srgbClr val="1ABC9C"/>
                </a:solidFill>
                <a:latin typeface="Calibri" pitchFamily="34" charset="0"/>
                <a:ea typeface="Calibri" pitchFamily="34" charset="-122"/>
                <a:cs typeface="Calibri" pitchFamily="34" charset="-120"/>
              </a:rPr>
              <a:t>Since h is admissible:   f(n') = g(n') + h(n') ≤ C*</a:t>
            </a:r>
            <a:endParaRPr lang="en-US" sz="1100" dirty="0"/>
          </a:p>
        </p:txBody>
      </p:sp>
      <p:sp>
        <p:nvSpPr>
          <p:cNvPr id="16" name="Shape 14"/>
          <p:cNvSpPr/>
          <p:nvPr/>
        </p:nvSpPr>
        <p:spPr>
          <a:xfrm>
            <a:off x="457200" y="3474720"/>
            <a:ext cx="411480" cy="411480"/>
          </a:xfrm>
          <a:prstGeom prst="ellipse">
            <a:avLst/>
          </a:prstGeom>
          <a:solidFill>
            <a:srgbClr val="1B4F72"/>
          </a:solidFill>
          <a:ln w="12700">
            <a:solidFill>
              <a:srgbClr val="1B4F72"/>
            </a:solidFill>
            <a:prstDash val="solid"/>
          </a:ln>
        </p:spPr>
      </p:sp>
      <p:sp>
        <p:nvSpPr>
          <p:cNvPr id="17" name="Text 15"/>
          <p:cNvSpPr/>
          <p:nvPr/>
        </p:nvSpPr>
        <p:spPr>
          <a:xfrm>
            <a:off x="457200" y="34747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1005840" y="3438144"/>
            <a:ext cx="7635240" cy="502920"/>
          </a:xfrm>
          <a:prstGeom prst="rect">
            <a:avLst/>
          </a:prstGeom>
          <a:noFill/>
          <a:ln/>
        </p:spPr>
        <p:txBody>
          <a:bodyPr wrap="square" lIns="0" tIns="0" rIns="0" bIns="0" rtlCol="0" anchor="ctr"/>
          <a:lstStyle/>
          <a:p>
            <a:pPr indent="0" marL="0">
              <a:buNone/>
            </a:pPr>
            <a:r>
              <a:rPr lang="en-US" sz="1100" dirty="0">
                <a:solidFill>
                  <a:srgbClr val="E67E22"/>
                </a:solidFill>
                <a:latin typeface="Calibri" pitchFamily="34" charset="0"/>
                <a:ea typeface="Calibri" pitchFamily="34" charset="-122"/>
                <a:cs typeface="Calibri" pitchFamily="34" charset="-120"/>
              </a:rPr>
              <a:t>A* chose goal over n', so:   f(goal) ≤ f(n')   →   C ≤ C*</a:t>
            </a:r>
            <a:endParaRPr lang="en-US" sz="1100" dirty="0"/>
          </a:p>
        </p:txBody>
      </p:sp>
      <p:sp>
        <p:nvSpPr>
          <p:cNvPr id="19" name="Shape 17"/>
          <p:cNvSpPr/>
          <p:nvPr/>
        </p:nvSpPr>
        <p:spPr>
          <a:xfrm>
            <a:off x="457200" y="4041648"/>
            <a:ext cx="411480" cy="411480"/>
          </a:xfrm>
          <a:prstGeom prst="ellipse">
            <a:avLst/>
          </a:prstGeom>
          <a:solidFill>
            <a:srgbClr val="27AE60"/>
          </a:solidFill>
          <a:ln w="12700">
            <a:solidFill>
              <a:srgbClr val="1B4F72"/>
            </a:solidFill>
            <a:prstDash val="solid"/>
          </a:ln>
        </p:spPr>
      </p:sp>
      <p:sp>
        <p:nvSpPr>
          <p:cNvPr id="20" name="Text 18"/>
          <p:cNvSpPr/>
          <p:nvPr/>
        </p:nvSpPr>
        <p:spPr>
          <a:xfrm>
            <a:off x="457200" y="4041648"/>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1" name="Text 19"/>
          <p:cNvSpPr/>
          <p:nvPr/>
        </p:nvSpPr>
        <p:spPr>
          <a:xfrm>
            <a:off x="1005840" y="4005072"/>
            <a:ext cx="7635240" cy="502920"/>
          </a:xfrm>
          <a:prstGeom prst="rect">
            <a:avLst/>
          </a:prstGeom>
          <a:noFill/>
          <a:ln/>
        </p:spPr>
        <p:txBody>
          <a:bodyPr wrap="square" lIns="0" tIns="0" rIns="0" bIns="0" rtlCol="0" anchor="ctr"/>
          <a:lstStyle/>
          <a:p>
            <a:pPr indent="0" marL="0">
              <a:buNone/>
            </a:pPr>
            <a:r>
              <a:rPr lang="en-US" sz="1100" dirty="0">
                <a:solidFill>
                  <a:srgbClr val="27AE60"/>
                </a:solidFill>
                <a:latin typeface="Calibri" pitchFamily="34" charset="0"/>
                <a:ea typeface="Calibri" pitchFamily="34" charset="-122"/>
                <a:cs typeface="Calibri" pitchFamily="34" charset="-120"/>
              </a:rPr>
              <a:t>This contradicts C &gt; C*.   ∴ A* must return the optimal path. ∎</a:t>
            </a:r>
            <a:endParaRPr lang="en-US" sz="1100" dirty="0"/>
          </a:p>
        </p:txBody>
      </p:sp>
      <p:sp>
        <p:nvSpPr>
          <p:cNvPr id="22" name="Shape 20"/>
          <p:cNvSpPr/>
          <p:nvPr/>
        </p:nvSpPr>
        <p:spPr>
          <a:xfrm>
            <a:off x="457200" y="4617720"/>
            <a:ext cx="8229600" cy="384048"/>
          </a:xfrm>
          <a:prstGeom prst="rect">
            <a:avLst/>
          </a:prstGeom>
          <a:solidFill>
            <a:srgbClr val="0A2540"/>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23" name="Text 21"/>
          <p:cNvSpPr/>
          <p:nvPr/>
        </p:nvSpPr>
        <p:spPr>
          <a:xfrm>
            <a:off x="594360" y="4663440"/>
            <a:ext cx="1828800" cy="292608"/>
          </a:xfrm>
          <a:prstGeom prst="rect">
            <a:avLst/>
          </a:prstGeom>
          <a:noFill/>
          <a:ln/>
        </p:spPr>
        <p:txBody>
          <a:bodyPr wrap="square" lIns="0" tIns="0" rIns="0" bIns="0" rtlCol="0" anchor="ctr"/>
          <a:lstStyle/>
          <a:p>
            <a:pPr indent="0" marL="0">
              <a:buNone/>
            </a:pPr>
            <a:r>
              <a:rPr lang="en-US" sz="1000" b="1" dirty="0">
                <a:solidFill>
                  <a:srgbClr val="1ABC9C"/>
                </a:solidFill>
                <a:latin typeface="Calibri" pitchFamily="34" charset="0"/>
                <a:ea typeface="Calibri" pitchFamily="34" charset="-122"/>
                <a:cs typeface="Calibri" pitchFamily="34" charset="-120"/>
              </a:rPr>
              <a:t>Bonus — Consistency:  </a:t>
            </a:r>
            <a:endParaRPr lang="en-US" sz="1000" dirty="0"/>
          </a:p>
        </p:txBody>
      </p:sp>
      <p:sp>
        <p:nvSpPr>
          <p:cNvPr id="24" name="Text 22"/>
          <p:cNvSpPr/>
          <p:nvPr/>
        </p:nvSpPr>
        <p:spPr>
          <a:xfrm>
            <a:off x="2331720" y="4663440"/>
            <a:ext cx="6126480" cy="292608"/>
          </a:xfrm>
          <a:prstGeom prst="rect">
            <a:avLst/>
          </a:prstGeom>
          <a:noFill/>
          <a:ln/>
        </p:spPr>
        <p:txBody>
          <a:bodyPr wrap="square" lIns="0" tIns="0" rIns="0" bIns="0" rtlCol="0" anchor="ctr"/>
          <a:lstStyle/>
          <a:p>
            <a:pPr indent="0" marL="0">
              <a:buNone/>
            </a:pPr>
            <a:r>
              <a:rPr lang="en-US" sz="1000" dirty="0">
                <a:solidFill>
                  <a:srgbClr val="BDC3C7"/>
                </a:solidFill>
                <a:latin typeface="Calibri" pitchFamily="34" charset="0"/>
                <a:ea typeface="Calibri" pitchFamily="34" charset="-122"/>
                <a:cs typeface="Calibri" pitchFamily="34" charset="-120"/>
              </a:rPr>
              <a:t>f is non-decreasing along any path → each node expanded at most once → time complexity is tighter than with admissibility alone.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457200" y="164592"/>
            <a:ext cx="8229600" cy="548640"/>
          </a:xfrm>
          <a:prstGeom prst="rect">
            <a:avLst/>
          </a:prstGeom>
          <a:noFill/>
          <a:ln/>
        </p:spPr>
        <p:txBody>
          <a:bodyPr wrap="square" lIns="0" tIns="0" rIns="0" bIns="0" rtlCol="0" anchor="ctr"/>
          <a:lstStyle/>
          <a:p>
            <a:pPr algn="l" indent="0" marL="0">
              <a:buNone/>
            </a:pPr>
            <a:r>
              <a:rPr lang="en-US" sz="2800" b="1" dirty="0">
                <a:solidFill>
                  <a:srgbClr val="0D1B2A"/>
                </a:solidFill>
                <a:latin typeface="Calibri" pitchFamily="34" charset="0"/>
                <a:ea typeface="Calibri" pitchFamily="34" charset="-122"/>
                <a:cs typeface="Calibri" pitchFamily="34" charset="-120"/>
              </a:rPr>
              <a:t>Time &amp; Space Complexity Analysis</a:t>
            </a:r>
            <a:endParaRPr lang="en-US" sz="2800" dirty="0"/>
          </a:p>
        </p:txBody>
      </p:sp>
      <p:sp>
        <p:nvSpPr>
          <p:cNvPr id="3" name="Shape 1"/>
          <p:cNvSpPr/>
          <p:nvPr/>
        </p:nvSpPr>
        <p:spPr>
          <a:xfrm>
            <a:off x="457200" y="960120"/>
            <a:ext cx="8229600" cy="22860"/>
          </a:xfrm>
          <a:prstGeom prst="rect">
            <a:avLst/>
          </a:prstGeom>
          <a:solidFill>
            <a:srgbClr val="1ABC9C"/>
          </a:solidFill>
          <a:ln w="12700">
            <a:solidFill>
              <a:srgbClr val="1ABC9C"/>
            </a:solidFill>
            <a:prstDash val="solid"/>
          </a:ln>
        </p:spPr>
      </p:sp>
      <p:sp>
        <p:nvSpPr>
          <p:cNvPr id="4" name="Shape 2"/>
          <p:cNvSpPr/>
          <p:nvPr/>
        </p:nvSpPr>
        <p:spPr>
          <a:xfrm>
            <a:off x="457200" y="1097280"/>
            <a:ext cx="2697480" cy="2148840"/>
          </a:xfrm>
          <a:prstGeom prst="rect">
            <a:avLst/>
          </a:prstGeom>
          <a:solidFill>
            <a:srgbClr val="FFFFFF"/>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457200" y="1097280"/>
            <a:ext cx="64008" cy="2148840"/>
          </a:xfrm>
          <a:prstGeom prst="rect">
            <a:avLst/>
          </a:prstGeom>
          <a:solidFill>
            <a:srgbClr val="E74C3C"/>
          </a:solidFill>
          <a:ln w="12700">
            <a:solidFill>
              <a:srgbClr val="E74C3C"/>
            </a:solidFill>
            <a:prstDash val="solid"/>
          </a:ln>
        </p:spPr>
      </p:sp>
      <p:sp>
        <p:nvSpPr>
          <p:cNvPr id="6" name="Text 4"/>
          <p:cNvSpPr/>
          <p:nvPr/>
        </p:nvSpPr>
        <p:spPr>
          <a:xfrm>
            <a:off x="594360" y="1188720"/>
            <a:ext cx="2423160" cy="347472"/>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Worst Case</a:t>
            </a:r>
            <a:endParaRPr lang="en-US" sz="1200" dirty="0"/>
          </a:p>
        </p:txBody>
      </p:sp>
      <p:sp>
        <p:nvSpPr>
          <p:cNvPr id="7" name="Text 5"/>
          <p:cNvSpPr/>
          <p:nvPr/>
        </p:nvSpPr>
        <p:spPr>
          <a:xfrm>
            <a:off x="594360" y="1536192"/>
            <a:ext cx="2423160" cy="411480"/>
          </a:xfrm>
          <a:prstGeom prst="rect">
            <a:avLst/>
          </a:prstGeom>
          <a:noFill/>
          <a:ln/>
        </p:spPr>
        <p:txBody>
          <a:bodyPr wrap="square" lIns="0" tIns="0" rIns="0" bIns="0" rtlCol="0" anchor="ctr"/>
          <a:lstStyle/>
          <a:p>
            <a:pPr indent="0" marL="0">
              <a:buNone/>
            </a:pPr>
            <a:r>
              <a:rPr lang="en-US" sz="850" i="1" dirty="0">
                <a:solidFill>
                  <a:srgbClr val="5D6D7E"/>
                </a:solidFill>
                <a:latin typeface="Calibri" pitchFamily="34" charset="0"/>
                <a:ea typeface="Calibri" pitchFamily="34" charset="-122"/>
                <a:cs typeface="Calibri" pitchFamily="34" charset="-120"/>
              </a:rPr>
              <a:t>h(n) = 0, degrades to Dijkstra</a:t>
            </a:r>
            <a:endParaRPr lang="en-US" sz="850" dirty="0"/>
          </a:p>
        </p:txBody>
      </p:sp>
      <p:sp>
        <p:nvSpPr>
          <p:cNvPr id="8" name="Text 6"/>
          <p:cNvSpPr/>
          <p:nvPr/>
        </p:nvSpPr>
        <p:spPr>
          <a:xfrm>
            <a:off x="594360" y="2011680"/>
            <a:ext cx="2423160" cy="502920"/>
          </a:xfrm>
          <a:prstGeom prst="rect">
            <a:avLst/>
          </a:prstGeom>
          <a:noFill/>
          <a:ln/>
        </p:spPr>
        <p:txBody>
          <a:bodyPr wrap="square" lIns="0" tIns="0" rIns="0" bIns="0" rtlCol="0" anchor="ctr"/>
          <a:lstStyle/>
          <a:p>
            <a:pPr indent="0" marL="0">
              <a:buNone/>
            </a:pPr>
            <a:r>
              <a:rPr lang="en-US" sz="1800" b="1" dirty="0">
                <a:solidFill>
                  <a:srgbClr val="E74C3C"/>
                </a:solidFill>
                <a:latin typeface="Consolas" pitchFamily="34" charset="0"/>
                <a:ea typeface="Consolas" pitchFamily="34" charset="-122"/>
                <a:cs typeface="Consolas" pitchFamily="34" charset="-120"/>
              </a:rPr>
              <a:t>O((V + E) log V)</a:t>
            </a:r>
            <a:endParaRPr lang="en-US" sz="1800" dirty="0"/>
          </a:p>
        </p:txBody>
      </p:sp>
      <p:sp>
        <p:nvSpPr>
          <p:cNvPr id="9" name="Text 7"/>
          <p:cNvSpPr/>
          <p:nvPr/>
        </p:nvSpPr>
        <p:spPr>
          <a:xfrm>
            <a:off x="594360" y="2578608"/>
            <a:ext cx="2423160" cy="54864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Min-heap with V insertions and E relaxations</a:t>
            </a:r>
            <a:endParaRPr lang="en-US" sz="900" dirty="0"/>
          </a:p>
        </p:txBody>
      </p:sp>
      <p:sp>
        <p:nvSpPr>
          <p:cNvPr id="10" name="Shape 8"/>
          <p:cNvSpPr/>
          <p:nvPr/>
        </p:nvSpPr>
        <p:spPr>
          <a:xfrm>
            <a:off x="3337560" y="1097280"/>
            <a:ext cx="2697480" cy="2148840"/>
          </a:xfrm>
          <a:prstGeom prst="rect">
            <a:avLst/>
          </a:prstGeom>
          <a:solidFill>
            <a:srgbClr val="FFFFFF"/>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337560" y="1097280"/>
            <a:ext cx="64008" cy="2148840"/>
          </a:xfrm>
          <a:prstGeom prst="rect">
            <a:avLst/>
          </a:prstGeom>
          <a:solidFill>
            <a:srgbClr val="E67E22"/>
          </a:solidFill>
          <a:ln w="12700">
            <a:solidFill>
              <a:srgbClr val="E67E22"/>
            </a:solidFill>
            <a:prstDash val="solid"/>
          </a:ln>
        </p:spPr>
      </p:sp>
      <p:sp>
        <p:nvSpPr>
          <p:cNvPr id="12" name="Text 10"/>
          <p:cNvSpPr/>
          <p:nvPr/>
        </p:nvSpPr>
        <p:spPr>
          <a:xfrm>
            <a:off x="3474720" y="1188720"/>
            <a:ext cx="2423160" cy="347472"/>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Practical Case</a:t>
            </a:r>
            <a:endParaRPr lang="en-US" sz="1200" dirty="0"/>
          </a:p>
        </p:txBody>
      </p:sp>
      <p:sp>
        <p:nvSpPr>
          <p:cNvPr id="13" name="Text 11"/>
          <p:cNvSpPr/>
          <p:nvPr/>
        </p:nvSpPr>
        <p:spPr>
          <a:xfrm>
            <a:off x="3474720" y="1536192"/>
            <a:ext cx="2423160" cy="411480"/>
          </a:xfrm>
          <a:prstGeom prst="rect">
            <a:avLst/>
          </a:prstGeom>
          <a:noFill/>
          <a:ln/>
        </p:spPr>
        <p:txBody>
          <a:bodyPr wrap="square" lIns="0" tIns="0" rIns="0" bIns="0" rtlCol="0" anchor="ctr"/>
          <a:lstStyle/>
          <a:p>
            <a:pPr indent="0" marL="0">
              <a:buNone/>
            </a:pPr>
            <a:r>
              <a:rPr lang="en-US" sz="850" i="1" dirty="0">
                <a:solidFill>
                  <a:srgbClr val="5D6D7E"/>
                </a:solidFill>
                <a:latin typeface="Calibri" pitchFamily="34" charset="0"/>
                <a:ea typeface="Calibri" pitchFamily="34" charset="-122"/>
                <a:cs typeface="Calibri" pitchFamily="34" charset="-120"/>
              </a:rPr>
              <a:t>Admissible heuristic, avg. branching b, depth d</a:t>
            </a:r>
            <a:endParaRPr lang="en-US" sz="850" dirty="0"/>
          </a:p>
        </p:txBody>
      </p:sp>
      <p:sp>
        <p:nvSpPr>
          <p:cNvPr id="14" name="Text 12"/>
          <p:cNvSpPr/>
          <p:nvPr/>
        </p:nvSpPr>
        <p:spPr>
          <a:xfrm>
            <a:off x="3474720" y="2011680"/>
            <a:ext cx="2423160" cy="502920"/>
          </a:xfrm>
          <a:prstGeom prst="rect">
            <a:avLst/>
          </a:prstGeom>
          <a:noFill/>
          <a:ln/>
        </p:spPr>
        <p:txBody>
          <a:bodyPr wrap="square" lIns="0" tIns="0" rIns="0" bIns="0" rtlCol="0" anchor="ctr"/>
          <a:lstStyle/>
          <a:p>
            <a:pPr indent="0" marL="0">
              <a:buNone/>
            </a:pPr>
            <a:r>
              <a:rPr lang="en-US" sz="1800" b="1" dirty="0">
                <a:solidFill>
                  <a:srgbClr val="E67E22"/>
                </a:solidFill>
                <a:latin typeface="Consolas" pitchFamily="34" charset="0"/>
                <a:ea typeface="Consolas" pitchFamily="34" charset="-122"/>
                <a:cs typeface="Consolas" pitchFamily="34" charset="-120"/>
              </a:rPr>
              <a:t>O(bᵈ)</a:t>
            </a:r>
            <a:endParaRPr lang="en-US" sz="1800" dirty="0"/>
          </a:p>
        </p:txBody>
      </p:sp>
      <p:sp>
        <p:nvSpPr>
          <p:cNvPr id="15" name="Text 13"/>
          <p:cNvSpPr/>
          <p:nvPr/>
        </p:nvSpPr>
        <p:spPr>
          <a:xfrm>
            <a:off x="3474720" y="2578608"/>
            <a:ext cx="2423160" cy="54864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Heuristic quality shrinks effective b significantly</a:t>
            </a:r>
            <a:endParaRPr lang="en-US" sz="900" dirty="0"/>
          </a:p>
        </p:txBody>
      </p:sp>
      <p:sp>
        <p:nvSpPr>
          <p:cNvPr id="16" name="Shape 14"/>
          <p:cNvSpPr/>
          <p:nvPr/>
        </p:nvSpPr>
        <p:spPr>
          <a:xfrm>
            <a:off x="6217920" y="1097280"/>
            <a:ext cx="2697480" cy="2148840"/>
          </a:xfrm>
          <a:prstGeom prst="rect">
            <a:avLst/>
          </a:prstGeom>
          <a:solidFill>
            <a:srgbClr val="FFFFFF"/>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6217920" y="1097280"/>
            <a:ext cx="64008" cy="2148840"/>
          </a:xfrm>
          <a:prstGeom prst="rect">
            <a:avLst/>
          </a:prstGeom>
          <a:solidFill>
            <a:srgbClr val="27AE60"/>
          </a:solidFill>
          <a:ln w="12700">
            <a:solidFill>
              <a:srgbClr val="27AE60"/>
            </a:solidFill>
            <a:prstDash val="solid"/>
          </a:ln>
        </p:spPr>
      </p:sp>
      <p:sp>
        <p:nvSpPr>
          <p:cNvPr id="18" name="Text 16"/>
          <p:cNvSpPr/>
          <p:nvPr/>
        </p:nvSpPr>
        <p:spPr>
          <a:xfrm>
            <a:off x="6355080" y="1188720"/>
            <a:ext cx="2423160" cy="347472"/>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Best Case</a:t>
            </a:r>
            <a:endParaRPr lang="en-US" sz="1200" dirty="0"/>
          </a:p>
        </p:txBody>
      </p:sp>
      <p:sp>
        <p:nvSpPr>
          <p:cNvPr id="19" name="Text 17"/>
          <p:cNvSpPr/>
          <p:nvPr/>
        </p:nvSpPr>
        <p:spPr>
          <a:xfrm>
            <a:off x="6355080" y="1536192"/>
            <a:ext cx="2423160" cy="411480"/>
          </a:xfrm>
          <a:prstGeom prst="rect">
            <a:avLst/>
          </a:prstGeom>
          <a:noFill/>
          <a:ln/>
        </p:spPr>
        <p:txBody>
          <a:bodyPr wrap="square" lIns="0" tIns="0" rIns="0" bIns="0" rtlCol="0" anchor="ctr"/>
          <a:lstStyle/>
          <a:p>
            <a:pPr indent="0" marL="0">
              <a:buNone/>
            </a:pPr>
            <a:r>
              <a:rPr lang="en-US" sz="850" i="1" dirty="0">
                <a:solidFill>
                  <a:srgbClr val="5D6D7E"/>
                </a:solidFill>
                <a:latin typeface="Calibri" pitchFamily="34" charset="0"/>
                <a:ea typeface="Calibri" pitchFamily="34" charset="-122"/>
                <a:cs typeface="Calibri" pitchFamily="34" charset="-120"/>
              </a:rPr>
              <a:t>Perfect heuristic guides directly to goal</a:t>
            </a:r>
            <a:endParaRPr lang="en-US" sz="850" dirty="0"/>
          </a:p>
        </p:txBody>
      </p:sp>
      <p:sp>
        <p:nvSpPr>
          <p:cNvPr id="20" name="Text 18"/>
          <p:cNvSpPr/>
          <p:nvPr/>
        </p:nvSpPr>
        <p:spPr>
          <a:xfrm>
            <a:off x="6355080" y="2011680"/>
            <a:ext cx="2423160" cy="502920"/>
          </a:xfrm>
          <a:prstGeom prst="rect">
            <a:avLst/>
          </a:prstGeom>
          <a:noFill/>
          <a:ln/>
        </p:spPr>
        <p:txBody>
          <a:bodyPr wrap="square" lIns="0" tIns="0" rIns="0" bIns="0" rtlCol="0" anchor="ctr"/>
          <a:lstStyle/>
          <a:p>
            <a:pPr indent="0" marL="0">
              <a:buNone/>
            </a:pPr>
            <a:r>
              <a:rPr lang="en-US" sz="1800" b="1" dirty="0">
                <a:solidFill>
                  <a:srgbClr val="27AE60"/>
                </a:solidFill>
                <a:latin typeface="Consolas" pitchFamily="34" charset="0"/>
                <a:ea typeface="Consolas" pitchFamily="34" charset="-122"/>
                <a:cs typeface="Consolas" pitchFamily="34" charset="-120"/>
              </a:rPr>
              <a:t>O(d)</a:t>
            </a:r>
            <a:endParaRPr lang="en-US" sz="1800" dirty="0"/>
          </a:p>
        </p:txBody>
      </p:sp>
      <p:sp>
        <p:nvSpPr>
          <p:cNvPr id="21" name="Text 19"/>
          <p:cNvSpPr/>
          <p:nvPr/>
        </p:nvSpPr>
        <p:spPr>
          <a:xfrm>
            <a:off x="6355080" y="2578608"/>
            <a:ext cx="2423160" cy="548640"/>
          </a:xfrm>
          <a:prstGeom prst="rect">
            <a:avLst/>
          </a:prstGeom>
          <a:noFill/>
          <a:ln/>
        </p:spPr>
        <p:txBody>
          <a:bodyPr wrap="square" lIns="0" tIns="0" rIns="0" bIns="0" rtlCol="0" anchor="ctr"/>
          <a:lstStyle/>
          <a:p>
            <a:pPr indent="0" marL="0">
              <a:buNone/>
            </a:pPr>
            <a:r>
              <a:rPr lang="en-US" sz="900" dirty="0">
                <a:solidFill>
                  <a:srgbClr val="5D6D7E"/>
                </a:solidFill>
                <a:latin typeface="Calibri" pitchFamily="34" charset="0"/>
                <a:ea typeface="Calibri" pitchFamily="34" charset="-122"/>
                <a:cs typeface="Calibri" pitchFamily="34" charset="-120"/>
              </a:rPr>
              <a:t>Only nodes on the optimal path are expanded</a:t>
            </a:r>
            <a:endParaRPr lang="en-US" sz="900" dirty="0"/>
          </a:p>
        </p:txBody>
      </p:sp>
      <p:sp>
        <p:nvSpPr>
          <p:cNvPr id="22" name="Shape 20"/>
          <p:cNvSpPr/>
          <p:nvPr/>
        </p:nvSpPr>
        <p:spPr>
          <a:xfrm>
            <a:off x="457200" y="3401568"/>
            <a:ext cx="4023360" cy="1508760"/>
          </a:xfrm>
          <a:prstGeom prst="rect">
            <a:avLst/>
          </a:prstGeom>
          <a:solidFill>
            <a:srgbClr val="0D1B2A"/>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23" name="Text 21"/>
          <p:cNvSpPr/>
          <p:nvPr/>
        </p:nvSpPr>
        <p:spPr>
          <a:xfrm>
            <a:off x="640080" y="3493008"/>
            <a:ext cx="3657600" cy="347472"/>
          </a:xfrm>
          <a:prstGeom prst="rect">
            <a:avLst/>
          </a:prstGeom>
          <a:noFill/>
          <a:ln/>
        </p:spPr>
        <p:txBody>
          <a:bodyPr wrap="square" lIns="0" tIns="0" rIns="0" bIns="0" rtlCol="0" anchor="ctr"/>
          <a:lstStyle/>
          <a:p>
            <a:pPr indent="0" marL="0">
              <a:buNone/>
            </a:pPr>
            <a:r>
              <a:rPr lang="en-US" sz="1300" b="1" dirty="0">
                <a:solidFill>
                  <a:srgbClr val="1ABC9C"/>
                </a:solidFill>
                <a:latin typeface="Calibri" pitchFamily="34" charset="0"/>
                <a:ea typeface="Calibri" pitchFamily="34" charset="-122"/>
                <a:cs typeface="Calibri" pitchFamily="34" charset="-120"/>
              </a:rPr>
              <a:t>Space Complexity</a:t>
            </a:r>
            <a:endParaRPr lang="en-US" sz="1300" dirty="0"/>
          </a:p>
        </p:txBody>
      </p:sp>
      <p:sp>
        <p:nvSpPr>
          <p:cNvPr id="24" name="Text 22"/>
          <p:cNvSpPr/>
          <p:nvPr/>
        </p:nvSpPr>
        <p:spPr>
          <a:xfrm>
            <a:off x="640080" y="3913632"/>
            <a:ext cx="3657600" cy="292608"/>
          </a:xfrm>
          <a:prstGeom prst="rect">
            <a:avLst/>
          </a:prstGeom>
          <a:noFill/>
          <a:ln/>
        </p:spPr>
        <p:txBody>
          <a:bodyPr wrap="square" lIns="0" tIns="0" rIns="0" bIns="0" rtlCol="0" anchor="ctr"/>
          <a:lstStyle/>
          <a:p>
            <a:pPr indent="0" marL="0">
              <a:buNone/>
            </a:pPr>
            <a:r>
              <a:rPr lang="en-US" sz="1000" dirty="0">
                <a:solidFill>
                  <a:srgbClr val="BDC3C7"/>
                </a:solidFill>
                <a:latin typeface="Calibri" pitchFamily="34" charset="0"/>
                <a:ea typeface="Calibri" pitchFamily="34" charset="-122"/>
                <a:cs typeface="Calibri" pitchFamily="34" charset="-120"/>
              </a:rPr>
              <a:t>▸  Open set:  O(V) entries max</a:t>
            </a:r>
            <a:endParaRPr lang="en-US" sz="1000" dirty="0"/>
          </a:p>
        </p:txBody>
      </p:sp>
      <p:sp>
        <p:nvSpPr>
          <p:cNvPr id="25" name="Text 23"/>
          <p:cNvSpPr/>
          <p:nvPr/>
        </p:nvSpPr>
        <p:spPr>
          <a:xfrm>
            <a:off x="640080" y="4224528"/>
            <a:ext cx="3657600" cy="292608"/>
          </a:xfrm>
          <a:prstGeom prst="rect">
            <a:avLst/>
          </a:prstGeom>
          <a:noFill/>
          <a:ln/>
        </p:spPr>
        <p:txBody>
          <a:bodyPr wrap="square" lIns="0" tIns="0" rIns="0" bIns="0" rtlCol="0" anchor="ctr"/>
          <a:lstStyle/>
          <a:p>
            <a:pPr indent="0" marL="0">
              <a:buNone/>
            </a:pPr>
            <a:r>
              <a:rPr lang="en-US" sz="1000" dirty="0">
                <a:solidFill>
                  <a:srgbClr val="BDC3C7"/>
                </a:solidFill>
                <a:latin typeface="Calibri" pitchFamily="34" charset="0"/>
                <a:ea typeface="Calibri" pitchFamily="34" charset="-122"/>
                <a:cs typeface="Calibri" pitchFamily="34" charset="-120"/>
              </a:rPr>
              <a:t>▸  g, f, parent arrays:  O(V) each</a:t>
            </a:r>
            <a:endParaRPr lang="en-US" sz="1000" dirty="0"/>
          </a:p>
        </p:txBody>
      </p:sp>
      <p:sp>
        <p:nvSpPr>
          <p:cNvPr id="26" name="Text 24"/>
          <p:cNvSpPr/>
          <p:nvPr/>
        </p:nvSpPr>
        <p:spPr>
          <a:xfrm>
            <a:off x="640080" y="4535424"/>
            <a:ext cx="3657600" cy="292608"/>
          </a:xfrm>
          <a:prstGeom prst="rect">
            <a:avLst/>
          </a:prstGeom>
          <a:noFill/>
          <a:ln/>
        </p:spPr>
        <p:txBody>
          <a:bodyPr wrap="square" lIns="0" tIns="0" rIns="0" bIns="0" rtlCol="0" anchor="ctr"/>
          <a:lstStyle/>
          <a:p>
            <a:pPr indent="0" marL="0">
              <a:buNone/>
            </a:pPr>
            <a:r>
              <a:rPr lang="en-US" sz="1000" dirty="0">
                <a:solidFill>
                  <a:srgbClr val="BDC3C7"/>
                </a:solidFill>
                <a:latin typeface="Calibri" pitchFamily="34" charset="0"/>
                <a:ea typeface="Calibri" pitchFamily="34" charset="-122"/>
                <a:cs typeface="Calibri" pitchFamily="34" charset="-120"/>
              </a:rPr>
              <a:t>▸  Path reconstruction:  O(V)</a:t>
            </a:r>
            <a:endParaRPr lang="en-US" sz="1000" dirty="0"/>
          </a:p>
        </p:txBody>
      </p:sp>
      <p:sp>
        <p:nvSpPr>
          <p:cNvPr id="27" name="Text 25"/>
          <p:cNvSpPr/>
          <p:nvPr/>
        </p:nvSpPr>
        <p:spPr>
          <a:xfrm>
            <a:off x="640080" y="4663440"/>
            <a:ext cx="3657600" cy="182880"/>
          </a:xfrm>
          <a:prstGeom prst="rect">
            <a:avLst/>
          </a:prstGeom>
          <a:noFill/>
          <a:ln/>
        </p:spPr>
        <p:txBody>
          <a:bodyPr wrap="square" lIns="0" tIns="0" rIns="0" bIns="0" rtlCol="0" anchor="ctr"/>
          <a:lstStyle/>
          <a:p>
            <a:pPr indent="0" marL="0">
              <a:buNone/>
            </a:pPr>
            <a:r>
              <a:rPr lang="en-US" sz="1200" b="1" dirty="0">
                <a:solidFill>
                  <a:srgbClr val="1ABC9C"/>
                </a:solidFill>
                <a:latin typeface="Consolas" pitchFamily="34" charset="0"/>
                <a:ea typeface="Consolas" pitchFamily="34" charset="-122"/>
                <a:cs typeface="Consolas" pitchFamily="34" charset="-120"/>
              </a:rPr>
              <a:t>Total:  O(V)</a:t>
            </a:r>
            <a:endParaRPr lang="en-US" sz="1200" dirty="0"/>
          </a:p>
        </p:txBody>
      </p:sp>
      <p:sp>
        <p:nvSpPr>
          <p:cNvPr id="28" name="Shape 26"/>
          <p:cNvSpPr/>
          <p:nvPr/>
        </p:nvSpPr>
        <p:spPr>
          <a:xfrm>
            <a:off x="4663440" y="3401568"/>
            <a:ext cx="4023360" cy="1508760"/>
          </a:xfrm>
          <a:prstGeom prst="rect">
            <a:avLst/>
          </a:prstGeom>
          <a:solidFill>
            <a:srgbClr val="EBF9F5"/>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29" name="Shape 27"/>
          <p:cNvSpPr/>
          <p:nvPr/>
        </p:nvSpPr>
        <p:spPr>
          <a:xfrm>
            <a:off x="4663440" y="3401568"/>
            <a:ext cx="64008" cy="1508760"/>
          </a:xfrm>
          <a:prstGeom prst="rect">
            <a:avLst/>
          </a:prstGeom>
          <a:solidFill>
            <a:srgbClr val="1ABC9C"/>
          </a:solidFill>
          <a:ln w="12700">
            <a:solidFill>
              <a:srgbClr val="1ABC9C"/>
            </a:solidFill>
            <a:prstDash val="solid"/>
          </a:ln>
        </p:spPr>
      </p:sp>
      <p:sp>
        <p:nvSpPr>
          <p:cNvPr id="30" name="Text 28"/>
          <p:cNvSpPr/>
          <p:nvPr/>
        </p:nvSpPr>
        <p:spPr>
          <a:xfrm>
            <a:off x="4846320" y="3493008"/>
            <a:ext cx="3657600" cy="347472"/>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Practical Behavior — Cairo Graph</a:t>
            </a:r>
            <a:endParaRPr lang="en-US" sz="1200" dirty="0"/>
          </a:p>
        </p:txBody>
      </p:sp>
      <p:sp>
        <p:nvSpPr>
          <p:cNvPr id="31" name="Text 29"/>
          <p:cNvSpPr/>
          <p:nvPr/>
        </p:nvSpPr>
        <p:spPr>
          <a:xfrm>
            <a:off x="4846320" y="3904488"/>
            <a:ext cx="3657600" cy="292608"/>
          </a:xfrm>
          <a:prstGeom prst="rect">
            <a:avLst/>
          </a:prstGeom>
          <a:noFill/>
          <a:ln/>
        </p:spPr>
        <p:txBody>
          <a:bodyPr wrap="square" lIns="0" tIns="0" rIns="0" bIns="0" rtlCol="0" anchor="ctr"/>
          <a:lstStyle/>
          <a:p>
            <a:pPr indent="0" marL="0">
              <a:buNone/>
            </a:pPr>
            <a:r>
              <a:rPr lang="en-US" sz="950" dirty="0">
                <a:solidFill>
                  <a:srgbClr val="5D6D7E"/>
                </a:solidFill>
                <a:latin typeface="Calibri" pitchFamily="34" charset="0"/>
                <a:ea typeface="Calibri" pitchFamily="34" charset="-122"/>
                <a:cs typeface="Calibri" pitchFamily="34" charset="-120"/>
              </a:rPr>
              <a:t>▸  A* expands fewer nodes than Dijkstra in all tested routing scenarios</a:t>
            </a:r>
            <a:endParaRPr lang="en-US" sz="950" dirty="0"/>
          </a:p>
        </p:txBody>
      </p:sp>
      <p:sp>
        <p:nvSpPr>
          <p:cNvPr id="32" name="Text 30"/>
          <p:cNvSpPr/>
          <p:nvPr/>
        </p:nvSpPr>
        <p:spPr>
          <a:xfrm>
            <a:off x="4846320" y="4224528"/>
            <a:ext cx="3657600" cy="292608"/>
          </a:xfrm>
          <a:prstGeom prst="rect">
            <a:avLst/>
          </a:prstGeom>
          <a:noFill/>
          <a:ln/>
        </p:spPr>
        <p:txBody>
          <a:bodyPr wrap="square" lIns="0" tIns="0" rIns="0" bIns="0" rtlCol="0" anchor="ctr"/>
          <a:lstStyle/>
          <a:p>
            <a:pPr indent="0" marL="0">
              <a:buNone/>
            </a:pPr>
            <a:r>
              <a:rPr lang="en-US" sz="950" dirty="0">
                <a:solidFill>
                  <a:srgbClr val="5D6D7E"/>
                </a:solidFill>
                <a:latin typeface="Calibri" pitchFamily="34" charset="0"/>
                <a:ea typeface="Calibri" pitchFamily="34" charset="-122"/>
                <a:cs typeface="Calibri" pitchFamily="34" charset="-120"/>
              </a:rPr>
              <a:t>▸  Advantage is greatest for long cross-city routes</a:t>
            </a:r>
            <a:endParaRPr lang="en-US" sz="950" dirty="0"/>
          </a:p>
        </p:txBody>
      </p:sp>
      <p:sp>
        <p:nvSpPr>
          <p:cNvPr id="33" name="Text 31"/>
          <p:cNvSpPr/>
          <p:nvPr/>
        </p:nvSpPr>
        <p:spPr>
          <a:xfrm>
            <a:off x="4846320" y="4544568"/>
            <a:ext cx="3657600" cy="292608"/>
          </a:xfrm>
          <a:prstGeom prst="rect">
            <a:avLst/>
          </a:prstGeom>
          <a:noFill/>
          <a:ln/>
        </p:spPr>
        <p:txBody>
          <a:bodyPr wrap="square" lIns="0" tIns="0" rIns="0" bIns="0" rtlCol="0" anchor="ctr"/>
          <a:lstStyle/>
          <a:p>
            <a:pPr indent="0" marL="0">
              <a:buNone/>
            </a:pPr>
            <a:r>
              <a:rPr lang="en-US" sz="950" dirty="0">
                <a:solidFill>
                  <a:srgbClr val="5D6D7E"/>
                </a:solidFill>
                <a:latin typeface="Calibri" pitchFamily="34" charset="0"/>
                <a:ea typeface="Calibri" pitchFamily="34" charset="-122"/>
                <a:cs typeface="Calibri" pitchFamily="34" charset="-120"/>
              </a:rPr>
              <a:t>▸  Average road connectivity in Cairo: ~3–5 neighbors per node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182880"/>
            <a:ext cx="8229600" cy="6858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Extension: Priority-Aware A* for Emergency Routing</a:t>
            </a:r>
            <a:endParaRPr lang="en-US" sz="3200" dirty="0"/>
          </a:p>
        </p:txBody>
      </p:sp>
      <p:sp>
        <p:nvSpPr>
          <p:cNvPr id="3" name="Shape 1"/>
          <p:cNvSpPr/>
          <p:nvPr/>
        </p:nvSpPr>
        <p:spPr>
          <a:xfrm>
            <a:off x="457200" y="201168"/>
            <a:ext cx="64008" cy="594360"/>
          </a:xfrm>
          <a:prstGeom prst="ellipse">
            <a:avLst/>
          </a:prstGeom>
          <a:solidFill>
            <a:srgbClr val="1ABC9C"/>
          </a:solidFill>
          <a:ln w="12700">
            <a:solidFill>
              <a:srgbClr val="1ABC9C"/>
            </a:solidFill>
            <a:prstDash val="solid"/>
          </a:ln>
        </p:spPr>
      </p:sp>
      <p:sp>
        <p:nvSpPr>
          <p:cNvPr id="4" name="Shape 2"/>
          <p:cNvSpPr/>
          <p:nvPr/>
        </p:nvSpPr>
        <p:spPr>
          <a:xfrm>
            <a:off x="457200" y="960120"/>
            <a:ext cx="8229600" cy="548640"/>
          </a:xfrm>
          <a:prstGeom prst="rect">
            <a:avLst/>
          </a:prstGeom>
          <a:solidFill>
            <a:srgbClr val="132337"/>
          </a:solidFill>
          <a:ln w="6350">
            <a:solidFill>
              <a:srgbClr val="E0E6ED"/>
            </a:solidFill>
            <a:prstDash val="solid"/>
          </a:ln>
          <a:effectLst>
            <a:outerShdw sx="100000" sy="100000" kx="0" ky="0" algn="bl" rotWithShape="0" blurRad="101600" dist="38100" dir="81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594360" y="1024128"/>
            <a:ext cx="365760" cy="365760"/>
          </a:xfrm>
          <a:prstGeom prst="rect">
            <a:avLst/>
          </a:prstGeom>
        </p:spPr>
      </p:pic>
      <p:sp>
        <p:nvSpPr>
          <p:cNvPr id="6" name="Text 3"/>
          <p:cNvSpPr/>
          <p:nvPr/>
        </p:nvSpPr>
        <p:spPr>
          <a:xfrm>
            <a:off x="1097280" y="1051560"/>
            <a:ext cx="7406640" cy="402336"/>
          </a:xfrm>
          <a:prstGeom prst="rect">
            <a:avLst/>
          </a:prstGeom>
          <a:noFill/>
          <a:ln/>
        </p:spPr>
        <p:txBody>
          <a:bodyPr wrap="square" lIns="0" tIns="0" rIns="0" bIns="0" rtlCol="0" anchor="ctr"/>
          <a:lstStyle/>
          <a:p>
            <a:pPr indent="0" marL="0">
              <a:buNone/>
            </a:pPr>
            <a:r>
              <a:rPr lang="en-US" sz="1100" dirty="0">
                <a:solidFill>
                  <a:srgbClr val="BDC3C7"/>
                </a:solidFill>
                <a:latin typeface="Calibri" pitchFamily="34" charset="0"/>
                <a:ea typeface="Calibri" pitchFamily="34" charset="-122"/>
                <a:cs typeface="Calibri" pitchFamily="34" charset="-120"/>
              </a:rPr>
              <a:t>Emergency vehicles need fastest routes — but standard A* treats all paths equally by weight.</a:t>
            </a:r>
            <a:endParaRPr lang="en-US" sz="1100" dirty="0"/>
          </a:p>
        </p:txBody>
      </p:sp>
      <p:sp>
        <p:nvSpPr>
          <p:cNvPr id="7" name="Shape 4"/>
          <p:cNvSpPr/>
          <p:nvPr/>
        </p:nvSpPr>
        <p:spPr>
          <a:xfrm>
            <a:off x="457200" y="1664208"/>
            <a:ext cx="5029200" cy="1737360"/>
          </a:xfrm>
          <a:prstGeom prst="rect">
            <a:avLst/>
          </a:prstGeom>
          <a:solidFill>
            <a:srgbClr val="132337"/>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8" name="Text 5"/>
          <p:cNvSpPr/>
          <p:nvPr/>
        </p:nvSpPr>
        <p:spPr>
          <a:xfrm>
            <a:off x="640080" y="1737360"/>
            <a:ext cx="4572000" cy="347472"/>
          </a:xfrm>
          <a:prstGeom prst="rect">
            <a:avLst/>
          </a:prstGeom>
          <a:noFill/>
          <a:ln/>
        </p:spPr>
        <p:txBody>
          <a:bodyPr wrap="square" lIns="0" tIns="0" rIns="0" bIns="0" rtlCol="0" anchor="ctr"/>
          <a:lstStyle/>
          <a:p>
            <a:pPr indent="0" marL="0">
              <a:buNone/>
            </a:pPr>
            <a:r>
              <a:rPr lang="en-US" sz="1200" b="1" dirty="0">
                <a:solidFill>
                  <a:srgbClr val="1ABC9C"/>
                </a:solidFill>
                <a:latin typeface="Calibri" pitchFamily="34" charset="0"/>
                <a:ea typeface="Calibri" pitchFamily="34" charset="-122"/>
                <a:cs typeface="Calibri" pitchFamily="34" charset="-120"/>
              </a:rPr>
              <a:t>Modified Edge Weight Function</a:t>
            </a:r>
            <a:endParaRPr lang="en-US" sz="1200" dirty="0"/>
          </a:p>
        </p:txBody>
      </p:sp>
      <p:sp>
        <p:nvSpPr>
          <p:cNvPr id="9" name="Text 6"/>
          <p:cNvSpPr/>
          <p:nvPr/>
        </p:nvSpPr>
        <p:spPr>
          <a:xfrm>
            <a:off x="640080" y="2121408"/>
            <a:ext cx="4572000" cy="502920"/>
          </a:xfrm>
          <a:prstGeom prst="rect">
            <a:avLst/>
          </a:prstGeom>
          <a:noFill/>
          <a:ln/>
        </p:spPr>
        <p:txBody>
          <a:bodyPr wrap="square" lIns="0" tIns="0" rIns="0" bIns="0" rtlCol="0" anchor="ctr"/>
          <a:lstStyle/>
          <a:p>
            <a:pPr indent="0" marL="0">
              <a:buNone/>
            </a:pPr>
            <a:r>
              <a:rPr lang="en-US" sz="1500" b="1" dirty="0">
                <a:solidFill>
                  <a:srgbClr val="FFFFFF"/>
                </a:solidFill>
                <a:latin typeface="Consolas" pitchFamily="34" charset="0"/>
                <a:ea typeface="Consolas" pitchFamily="34" charset="-122"/>
                <a:cs typeface="Consolas" pitchFamily="34" charset="-120"/>
              </a:rPr>
              <a:t>w'(u, v)  =  w(u, v)  ×  ( 1 − α · p )</a:t>
            </a:r>
            <a:endParaRPr lang="en-US" sz="1500" dirty="0"/>
          </a:p>
        </p:txBody>
      </p:sp>
      <p:sp>
        <p:nvSpPr>
          <p:cNvPr id="10" name="Text 7"/>
          <p:cNvSpPr/>
          <p:nvPr/>
        </p:nvSpPr>
        <p:spPr>
          <a:xfrm>
            <a:off x="640080" y="2670048"/>
            <a:ext cx="4663440" cy="246888"/>
          </a:xfrm>
          <a:prstGeom prst="rect">
            <a:avLst/>
          </a:prstGeom>
          <a:noFill/>
          <a:ln/>
        </p:spPr>
        <p:txBody>
          <a:bodyPr wrap="square" lIns="0" tIns="0" rIns="0" bIns="0" rtlCol="0" anchor="ctr"/>
          <a:lstStyle/>
          <a:p>
            <a:pPr indent="0" marL="0">
              <a:buNone/>
            </a:pPr>
            <a:r>
              <a:rPr lang="en-US" sz="950" dirty="0">
                <a:solidFill>
                  <a:srgbClr val="BDC3C7"/>
                </a:solidFill>
                <a:latin typeface="Calibri" pitchFamily="34" charset="0"/>
                <a:ea typeface="Calibri" pitchFamily="34" charset="-122"/>
                <a:cs typeface="Calibri" pitchFamily="34" charset="-120"/>
              </a:rPr>
              <a:t>▸  w(u,v) — base road weight (distance / travel time)</a:t>
            </a:r>
            <a:endParaRPr lang="en-US" sz="950" dirty="0"/>
          </a:p>
        </p:txBody>
      </p:sp>
      <p:sp>
        <p:nvSpPr>
          <p:cNvPr id="11" name="Text 8"/>
          <p:cNvSpPr/>
          <p:nvPr/>
        </p:nvSpPr>
        <p:spPr>
          <a:xfrm>
            <a:off x="640080" y="2916936"/>
            <a:ext cx="4663440" cy="246888"/>
          </a:xfrm>
          <a:prstGeom prst="rect">
            <a:avLst/>
          </a:prstGeom>
          <a:noFill/>
          <a:ln/>
        </p:spPr>
        <p:txBody>
          <a:bodyPr wrap="square" lIns="0" tIns="0" rIns="0" bIns="0" rtlCol="0" anchor="ctr"/>
          <a:lstStyle/>
          <a:p>
            <a:pPr indent="0" marL="0">
              <a:buNone/>
            </a:pPr>
            <a:r>
              <a:rPr lang="en-US" sz="950" dirty="0">
                <a:solidFill>
                  <a:srgbClr val="BDC3C7"/>
                </a:solidFill>
                <a:latin typeface="Calibri" pitchFamily="34" charset="0"/>
                <a:ea typeface="Calibri" pitchFamily="34" charset="-122"/>
                <a:cs typeface="Calibri" pitchFamily="34" charset="-120"/>
              </a:rPr>
              <a:t>▸  p ∈ [0, 1]  — priority factor for emergency corridors</a:t>
            </a:r>
            <a:endParaRPr lang="en-US" sz="950" dirty="0"/>
          </a:p>
        </p:txBody>
      </p:sp>
      <p:sp>
        <p:nvSpPr>
          <p:cNvPr id="12" name="Text 9"/>
          <p:cNvSpPr/>
          <p:nvPr/>
        </p:nvSpPr>
        <p:spPr>
          <a:xfrm>
            <a:off x="640080" y="3163824"/>
            <a:ext cx="4663440" cy="246888"/>
          </a:xfrm>
          <a:prstGeom prst="rect">
            <a:avLst/>
          </a:prstGeom>
          <a:noFill/>
          <a:ln/>
        </p:spPr>
        <p:txBody>
          <a:bodyPr wrap="square" lIns="0" tIns="0" rIns="0" bIns="0" rtlCol="0" anchor="ctr"/>
          <a:lstStyle/>
          <a:p>
            <a:pPr indent="0" marL="0">
              <a:buNone/>
            </a:pPr>
            <a:r>
              <a:rPr lang="en-US" sz="950" dirty="0">
                <a:solidFill>
                  <a:srgbClr val="BDC3C7"/>
                </a:solidFill>
                <a:latin typeface="Calibri" pitchFamily="34" charset="0"/>
                <a:ea typeface="Calibri" pitchFamily="34" charset="-122"/>
                <a:cs typeface="Calibri" pitchFamily="34" charset="-120"/>
              </a:rPr>
              <a:t>▸  α  — tuning parameter controlling priority influence</a:t>
            </a:r>
            <a:endParaRPr lang="en-US" sz="950" dirty="0"/>
          </a:p>
        </p:txBody>
      </p:sp>
      <p:sp>
        <p:nvSpPr>
          <p:cNvPr id="13" name="Shape 10"/>
          <p:cNvSpPr/>
          <p:nvPr/>
        </p:nvSpPr>
        <p:spPr>
          <a:xfrm>
            <a:off x="5669280" y="1664208"/>
            <a:ext cx="2999232" cy="960120"/>
          </a:xfrm>
          <a:prstGeom prst="rect">
            <a:avLst/>
          </a:prstGeom>
          <a:solidFill>
            <a:srgbClr val="132337"/>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14" name="Shape 11"/>
          <p:cNvSpPr/>
          <p:nvPr/>
        </p:nvSpPr>
        <p:spPr>
          <a:xfrm>
            <a:off x="5669280" y="1664208"/>
            <a:ext cx="64008" cy="960120"/>
          </a:xfrm>
          <a:prstGeom prst="rect">
            <a:avLst/>
          </a:prstGeom>
          <a:solidFill>
            <a:srgbClr val="1ABC9C"/>
          </a:solidFill>
          <a:ln w="12700">
            <a:solidFill>
              <a:srgbClr val="1ABC9C"/>
            </a:solidFill>
            <a:prstDash val="solid"/>
          </a:ln>
        </p:spPr>
      </p:sp>
      <p:sp>
        <p:nvSpPr>
          <p:cNvPr id="15" name="Text 12"/>
          <p:cNvSpPr/>
          <p:nvPr/>
        </p:nvSpPr>
        <p:spPr>
          <a:xfrm>
            <a:off x="5833872" y="1755648"/>
            <a:ext cx="2697480" cy="320040"/>
          </a:xfrm>
          <a:prstGeom prst="rect">
            <a:avLst/>
          </a:prstGeom>
          <a:noFill/>
          <a:ln/>
        </p:spPr>
        <p:txBody>
          <a:bodyPr wrap="square" lIns="0" tIns="0" rIns="0" bIns="0" rtlCol="0" anchor="ctr"/>
          <a:lstStyle/>
          <a:p>
            <a:pPr indent="0" marL="0">
              <a:buNone/>
            </a:pPr>
            <a:r>
              <a:rPr lang="en-US" sz="1100" b="1" dirty="0">
                <a:solidFill>
                  <a:srgbClr val="1ABC9C"/>
                </a:solidFill>
                <a:latin typeface="Calibri" pitchFamily="34" charset="0"/>
                <a:ea typeface="Calibri" pitchFamily="34" charset="-122"/>
                <a:cs typeface="Calibri" pitchFamily="34" charset="-120"/>
              </a:rPr>
              <a:t>Graph Modified, Not Algorithm</a:t>
            </a:r>
            <a:endParaRPr lang="en-US" sz="1100" dirty="0"/>
          </a:p>
        </p:txBody>
      </p:sp>
      <p:sp>
        <p:nvSpPr>
          <p:cNvPr id="16" name="Text 13"/>
          <p:cNvSpPr/>
          <p:nvPr/>
        </p:nvSpPr>
        <p:spPr>
          <a:xfrm>
            <a:off x="5833872" y="2084832"/>
            <a:ext cx="2697480" cy="475488"/>
          </a:xfrm>
          <a:prstGeom prst="rect">
            <a:avLst/>
          </a:prstGeom>
          <a:noFill/>
          <a:ln/>
        </p:spPr>
        <p:txBody>
          <a:bodyPr wrap="square" lIns="0" tIns="0" rIns="0" bIns="0" rtlCol="0" anchor="ctr"/>
          <a:lstStyle/>
          <a:p>
            <a:pPr indent="0" marL="0">
              <a:buNone/>
            </a:pPr>
            <a:r>
              <a:rPr lang="en-US" sz="950" dirty="0">
                <a:solidFill>
                  <a:srgbClr val="BDC3C7"/>
                </a:solidFill>
                <a:latin typeface="Calibri" pitchFamily="34" charset="0"/>
                <a:ea typeface="Calibri" pitchFamily="34" charset="-122"/>
                <a:cs typeface="Calibri" pitchFamily="34" charset="-120"/>
              </a:rPr>
              <a:t>Priority weights are in the graph layer — A* code is unchanged. All correctness guarantees hold.</a:t>
            </a:r>
            <a:endParaRPr lang="en-US" sz="950" dirty="0"/>
          </a:p>
        </p:txBody>
      </p:sp>
      <p:sp>
        <p:nvSpPr>
          <p:cNvPr id="17" name="Shape 14"/>
          <p:cNvSpPr/>
          <p:nvPr/>
        </p:nvSpPr>
        <p:spPr>
          <a:xfrm>
            <a:off x="5669280" y="2779776"/>
            <a:ext cx="2999232" cy="960120"/>
          </a:xfrm>
          <a:prstGeom prst="rect">
            <a:avLst/>
          </a:prstGeom>
          <a:solidFill>
            <a:srgbClr val="132337"/>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18" name="Shape 15"/>
          <p:cNvSpPr/>
          <p:nvPr/>
        </p:nvSpPr>
        <p:spPr>
          <a:xfrm>
            <a:off x="5669280" y="2779776"/>
            <a:ext cx="64008" cy="960120"/>
          </a:xfrm>
          <a:prstGeom prst="rect">
            <a:avLst/>
          </a:prstGeom>
          <a:solidFill>
            <a:srgbClr val="27AE60"/>
          </a:solidFill>
          <a:ln w="12700">
            <a:solidFill>
              <a:srgbClr val="27AE60"/>
            </a:solidFill>
            <a:prstDash val="solid"/>
          </a:ln>
        </p:spPr>
      </p:sp>
      <p:sp>
        <p:nvSpPr>
          <p:cNvPr id="19" name="Text 16"/>
          <p:cNvSpPr/>
          <p:nvPr/>
        </p:nvSpPr>
        <p:spPr>
          <a:xfrm>
            <a:off x="5833872" y="2871216"/>
            <a:ext cx="2697480" cy="320040"/>
          </a:xfrm>
          <a:prstGeom prst="rect">
            <a:avLst/>
          </a:prstGeom>
          <a:noFill/>
          <a:ln/>
        </p:spPr>
        <p:txBody>
          <a:bodyPr wrap="square" lIns="0" tIns="0" rIns="0" bIns="0" rtlCol="0" anchor="ctr"/>
          <a:lstStyle/>
          <a:p>
            <a:pPr indent="0" marL="0">
              <a:buNone/>
            </a:pPr>
            <a:r>
              <a:rPr lang="en-US" sz="1100" b="1" dirty="0">
                <a:solidFill>
                  <a:srgbClr val="27AE60"/>
                </a:solidFill>
                <a:latin typeface="Calibri" pitchFamily="34" charset="0"/>
                <a:ea typeface="Calibri" pitchFamily="34" charset="-122"/>
                <a:cs typeface="Calibri" pitchFamily="34" charset="-120"/>
              </a:rPr>
              <a:t>Admissibility Preserved</a:t>
            </a:r>
            <a:endParaRPr lang="en-US" sz="1100" dirty="0"/>
          </a:p>
        </p:txBody>
      </p:sp>
      <p:sp>
        <p:nvSpPr>
          <p:cNvPr id="20" name="Text 17"/>
          <p:cNvSpPr/>
          <p:nvPr/>
        </p:nvSpPr>
        <p:spPr>
          <a:xfrm>
            <a:off x="5833872" y="3200400"/>
            <a:ext cx="2697480" cy="475488"/>
          </a:xfrm>
          <a:prstGeom prst="rect">
            <a:avLst/>
          </a:prstGeom>
          <a:noFill/>
          <a:ln/>
        </p:spPr>
        <p:txBody>
          <a:bodyPr wrap="square" lIns="0" tIns="0" rIns="0" bIns="0" rtlCol="0" anchor="ctr"/>
          <a:lstStyle/>
          <a:p>
            <a:pPr indent="0" marL="0">
              <a:buNone/>
            </a:pPr>
            <a:r>
              <a:rPr lang="en-US" sz="950" dirty="0">
                <a:solidFill>
                  <a:srgbClr val="BDC3C7"/>
                </a:solidFill>
                <a:latin typeface="Calibri" pitchFamily="34" charset="0"/>
                <a:ea typeface="Calibri" pitchFamily="34" charset="-122"/>
                <a:cs typeface="Calibri" pitchFamily="34" charset="-120"/>
              </a:rPr>
              <a:t>Edge weights only decrease. Euclidean h(n) remains a lower bound on the reduced-cost graph.</a:t>
            </a:r>
            <a:endParaRPr lang="en-US" sz="950" dirty="0"/>
          </a:p>
        </p:txBody>
      </p:sp>
      <p:sp>
        <p:nvSpPr>
          <p:cNvPr id="21" name="Shape 18"/>
          <p:cNvSpPr/>
          <p:nvPr/>
        </p:nvSpPr>
        <p:spPr>
          <a:xfrm>
            <a:off x="5669280" y="3895344"/>
            <a:ext cx="2999232" cy="960120"/>
          </a:xfrm>
          <a:prstGeom prst="rect">
            <a:avLst/>
          </a:prstGeom>
          <a:solidFill>
            <a:srgbClr val="132337"/>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22" name="Shape 19"/>
          <p:cNvSpPr/>
          <p:nvPr/>
        </p:nvSpPr>
        <p:spPr>
          <a:xfrm>
            <a:off x="5669280" y="3895344"/>
            <a:ext cx="64008" cy="960120"/>
          </a:xfrm>
          <a:prstGeom prst="rect">
            <a:avLst/>
          </a:prstGeom>
          <a:solidFill>
            <a:srgbClr val="3498DB"/>
          </a:solidFill>
          <a:ln w="12700">
            <a:solidFill>
              <a:srgbClr val="3498DB"/>
            </a:solidFill>
            <a:prstDash val="solid"/>
          </a:ln>
        </p:spPr>
      </p:sp>
      <p:sp>
        <p:nvSpPr>
          <p:cNvPr id="23" name="Text 20"/>
          <p:cNvSpPr/>
          <p:nvPr/>
        </p:nvSpPr>
        <p:spPr>
          <a:xfrm>
            <a:off x="5833872" y="3986784"/>
            <a:ext cx="2697480" cy="320040"/>
          </a:xfrm>
          <a:prstGeom prst="rect">
            <a:avLst/>
          </a:prstGeom>
          <a:noFill/>
          <a:ln/>
        </p:spPr>
        <p:txBody>
          <a:bodyPr wrap="square" lIns="0" tIns="0" rIns="0" bIns="0" rtlCol="0" anchor="ctr"/>
          <a:lstStyle/>
          <a:p>
            <a:pPr indent="0" marL="0">
              <a:buNone/>
            </a:pPr>
            <a:r>
              <a:rPr lang="en-US" sz="1100" b="1" dirty="0">
                <a:solidFill>
                  <a:srgbClr val="3498DB"/>
                </a:solidFill>
                <a:latin typeface="Calibri" pitchFamily="34" charset="0"/>
                <a:ea typeface="Calibri" pitchFamily="34" charset="-122"/>
                <a:cs typeface="Calibri" pitchFamily="34" charset="-120"/>
              </a:rPr>
              <a:t>Natural Routing</a:t>
            </a:r>
            <a:endParaRPr lang="en-US" sz="1100" dirty="0"/>
          </a:p>
        </p:txBody>
      </p:sp>
      <p:sp>
        <p:nvSpPr>
          <p:cNvPr id="24" name="Text 21"/>
          <p:cNvSpPr/>
          <p:nvPr/>
        </p:nvSpPr>
        <p:spPr>
          <a:xfrm>
            <a:off x="5833872" y="4315968"/>
            <a:ext cx="2697480" cy="475488"/>
          </a:xfrm>
          <a:prstGeom prst="rect">
            <a:avLst/>
          </a:prstGeom>
          <a:noFill/>
          <a:ln/>
        </p:spPr>
        <p:txBody>
          <a:bodyPr wrap="square" lIns="0" tIns="0" rIns="0" bIns="0" rtlCol="0" anchor="ctr"/>
          <a:lstStyle/>
          <a:p>
            <a:pPr indent="0" marL="0">
              <a:buNone/>
            </a:pPr>
            <a:r>
              <a:rPr lang="en-US" sz="950" dirty="0">
                <a:solidFill>
                  <a:srgbClr val="BDC3C7"/>
                </a:solidFill>
                <a:latin typeface="Calibri" pitchFamily="34" charset="0"/>
                <a:ea typeface="Calibri" pitchFamily="34" charset="-122"/>
                <a:cs typeface="Calibri" pitchFamily="34" charset="-120"/>
              </a:rPr>
              <a:t>A* automatically prefers cheaper (priority) corridors without any algorithm-level change.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457200" y="164592"/>
            <a:ext cx="8229600" cy="548640"/>
          </a:xfrm>
          <a:prstGeom prst="rect">
            <a:avLst/>
          </a:prstGeom>
          <a:noFill/>
          <a:ln/>
        </p:spPr>
        <p:txBody>
          <a:bodyPr wrap="square" lIns="0" tIns="0" rIns="0" bIns="0" rtlCol="0" anchor="ctr"/>
          <a:lstStyle/>
          <a:p>
            <a:pPr algn="l" indent="0" marL="0">
              <a:buNone/>
            </a:pPr>
            <a:r>
              <a:rPr lang="en-US" sz="2800" b="1" dirty="0">
                <a:solidFill>
                  <a:srgbClr val="0D1B2A"/>
                </a:solidFill>
                <a:latin typeface="Calibri" pitchFamily="34" charset="0"/>
                <a:ea typeface="Calibri" pitchFamily="34" charset="-122"/>
                <a:cs typeface="Calibri" pitchFamily="34" charset="-120"/>
              </a:rPr>
              <a:t>System Architecture — A* in the Cairo Transportation System</a:t>
            </a:r>
            <a:endParaRPr lang="en-US" sz="2800" dirty="0"/>
          </a:p>
        </p:txBody>
      </p:sp>
      <p:sp>
        <p:nvSpPr>
          <p:cNvPr id="3" name="Shape 1"/>
          <p:cNvSpPr/>
          <p:nvPr/>
        </p:nvSpPr>
        <p:spPr>
          <a:xfrm>
            <a:off x="457200" y="960120"/>
            <a:ext cx="8229600" cy="22860"/>
          </a:xfrm>
          <a:prstGeom prst="rect">
            <a:avLst/>
          </a:prstGeom>
          <a:solidFill>
            <a:srgbClr val="1ABC9C"/>
          </a:solidFill>
          <a:ln w="12700">
            <a:solidFill>
              <a:srgbClr val="1ABC9C"/>
            </a:solidFill>
            <a:prstDash val="solid"/>
          </a:ln>
        </p:spPr>
      </p:sp>
      <p:sp>
        <p:nvSpPr>
          <p:cNvPr id="4" name="Shape 2"/>
          <p:cNvSpPr/>
          <p:nvPr/>
        </p:nvSpPr>
        <p:spPr>
          <a:xfrm>
            <a:off x="457200" y="1115568"/>
            <a:ext cx="1508760" cy="1325880"/>
          </a:xfrm>
          <a:prstGeom prst="rect">
            <a:avLst/>
          </a:prstGeom>
          <a:solidFill>
            <a:srgbClr val="0D1B2A"/>
          </a:solidFill>
          <a:ln w="6350">
            <a:solidFill>
              <a:srgbClr val="E0E6ED"/>
            </a:solidFill>
            <a:prstDash val="solid"/>
          </a:ln>
          <a:effectLst>
            <a:outerShdw sx="100000" sy="100000" kx="0" ky="0" algn="bl" rotWithShape="0" blurRad="101600" dist="38100" dir="81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982980" y="1207008"/>
            <a:ext cx="457200" cy="457200"/>
          </a:xfrm>
          <a:prstGeom prst="rect">
            <a:avLst/>
          </a:prstGeom>
        </p:spPr>
      </p:pic>
      <p:sp>
        <p:nvSpPr>
          <p:cNvPr id="6" name="Text 3"/>
          <p:cNvSpPr/>
          <p:nvPr/>
        </p:nvSpPr>
        <p:spPr>
          <a:xfrm>
            <a:off x="502920" y="1719072"/>
            <a:ext cx="1417320" cy="640080"/>
          </a:xfrm>
          <a:prstGeom prst="rect">
            <a:avLst/>
          </a:prstGeom>
          <a:noFill/>
          <a:ln/>
        </p:spPr>
        <p:txBody>
          <a:bodyPr wrap="square" lIns="0" tIns="0" rIns="0" bIns="0" rtlCol="0" anchor="ctr"/>
          <a:lstStyle/>
          <a:p>
            <a:pPr algn="ctr" indent="0" marL="0">
              <a:buNone/>
            </a:pPr>
            <a:r>
              <a:rPr lang="en-US" sz="1000" b="1" dirty="0">
                <a:solidFill>
                  <a:srgbClr val="1B4F72"/>
                </a:solidFill>
                <a:latin typeface="Calibri" pitchFamily="34" charset="0"/>
                <a:ea typeface="Calibri" pitchFamily="34" charset="-122"/>
                <a:cs typeface="Calibri" pitchFamily="34" charset="-120"/>
              </a:rPr>
              <a:t>Flask</a:t>
            </a:r>
            <a:endParaRPr lang="en-US" sz="1000" dirty="0"/>
          </a:p>
          <a:p>
            <a:pPr algn="ctr" indent="0" marL="0">
              <a:buNone/>
            </a:pPr>
            <a:r>
              <a:rPr lang="en-US" sz="1000" b="1" dirty="0">
                <a:solidFill>
                  <a:srgbClr val="1B4F72"/>
                </a:solidFill>
                <a:latin typeface="Calibri" pitchFamily="34" charset="0"/>
                <a:ea typeface="Calibri" pitchFamily="34" charset="-122"/>
                <a:cs typeface="Calibri" pitchFamily="34" charset="-120"/>
              </a:rPr>
              <a:t>Web App</a:t>
            </a:r>
            <a:endParaRPr lang="en-US" sz="1000" dirty="0"/>
          </a:p>
        </p:txBody>
      </p:sp>
      <p:sp>
        <p:nvSpPr>
          <p:cNvPr id="7" name="Shape 4"/>
          <p:cNvSpPr/>
          <p:nvPr/>
        </p:nvSpPr>
        <p:spPr>
          <a:xfrm>
            <a:off x="1965960" y="1691640"/>
            <a:ext cx="182880" cy="54864"/>
          </a:xfrm>
          <a:prstGeom prst="rect">
            <a:avLst/>
          </a:prstGeom>
          <a:solidFill>
            <a:srgbClr val="BDC3C7"/>
          </a:solidFill>
          <a:ln w="12700">
            <a:solidFill>
              <a:srgbClr val="BDC3C7"/>
            </a:solidFill>
            <a:prstDash val="solid"/>
          </a:ln>
        </p:spPr>
      </p:sp>
      <p:sp>
        <p:nvSpPr>
          <p:cNvPr id="8" name="Shape 5"/>
          <p:cNvSpPr/>
          <p:nvPr/>
        </p:nvSpPr>
        <p:spPr>
          <a:xfrm>
            <a:off x="2148840" y="1115568"/>
            <a:ext cx="1508760" cy="1325880"/>
          </a:xfrm>
          <a:prstGeom prst="rect">
            <a:avLst/>
          </a:prstGeom>
          <a:solidFill>
            <a:srgbClr val="0D1B2A"/>
          </a:solidFill>
          <a:ln w="6350">
            <a:solidFill>
              <a:srgbClr val="E0E6ED"/>
            </a:solidFill>
            <a:prstDash val="solid"/>
          </a:ln>
          <a:effectLst>
            <a:outerShdw sx="100000" sy="100000" kx="0" ky="0" algn="bl" rotWithShape="0" blurRad="101600" dist="38100" dir="8100000">
              <a:srgbClr val="000000">
                <a:alpha val="12000"/>
              </a:srgbClr>
            </a:outerShdw>
          </a:effectLst>
        </p:spPr>
      </p:sp>
      <p:pic>
        <p:nvPicPr>
          <p:cNvPr id="9" name="Image 1" descr="preencoded.png">    </p:cNvPr>
          <p:cNvPicPr>
            <a:picLocks noChangeAspect="1"/>
          </p:cNvPicPr>
          <p:nvPr/>
        </p:nvPicPr>
        <p:blipFill>
          <a:blip r:embed="rId2"/>
          <a:stretch>
            <a:fillRect/>
          </a:stretch>
        </p:blipFill>
        <p:spPr>
          <a:xfrm>
            <a:off x="2674620" y="1207008"/>
            <a:ext cx="457200" cy="457200"/>
          </a:xfrm>
          <a:prstGeom prst="rect">
            <a:avLst/>
          </a:prstGeom>
        </p:spPr>
      </p:pic>
      <p:sp>
        <p:nvSpPr>
          <p:cNvPr id="10" name="Text 6"/>
          <p:cNvSpPr/>
          <p:nvPr/>
        </p:nvSpPr>
        <p:spPr>
          <a:xfrm>
            <a:off x="2194560" y="1719072"/>
            <a:ext cx="1417320" cy="640080"/>
          </a:xfrm>
          <a:prstGeom prst="rect">
            <a:avLst/>
          </a:prstGeom>
          <a:noFill/>
          <a:ln/>
        </p:spPr>
        <p:txBody>
          <a:bodyPr wrap="square" lIns="0" tIns="0" rIns="0" bIns="0" rtlCol="0" anchor="ctr"/>
          <a:lstStyle/>
          <a:p>
            <a:pPr algn="ctr" indent="0" marL="0">
              <a:buNone/>
            </a:pPr>
            <a:r>
              <a:rPr lang="en-US" sz="1000" b="1" dirty="0">
                <a:solidFill>
                  <a:srgbClr val="8E44AD"/>
                </a:solidFill>
                <a:latin typeface="Calibri" pitchFamily="34" charset="0"/>
                <a:ea typeface="Calibri" pitchFamily="34" charset="-122"/>
                <a:cs typeface="Calibri" pitchFamily="34" charset="-120"/>
              </a:rPr>
              <a:t>Graph</a:t>
            </a:r>
            <a:endParaRPr lang="en-US" sz="1000" dirty="0"/>
          </a:p>
          <a:p>
            <a:pPr algn="ctr" indent="0" marL="0">
              <a:buNone/>
            </a:pPr>
            <a:r>
              <a:rPr lang="en-US" sz="1000" b="1" dirty="0">
                <a:solidFill>
                  <a:srgbClr val="8E44AD"/>
                </a:solidFill>
                <a:latin typeface="Calibri" pitchFamily="34" charset="0"/>
                <a:ea typeface="Calibri" pitchFamily="34" charset="-122"/>
                <a:cs typeface="Calibri" pitchFamily="34" charset="-120"/>
              </a:rPr>
              <a:t>Layer</a:t>
            </a:r>
            <a:endParaRPr lang="en-US" sz="1000" dirty="0"/>
          </a:p>
        </p:txBody>
      </p:sp>
      <p:sp>
        <p:nvSpPr>
          <p:cNvPr id="11" name="Shape 7"/>
          <p:cNvSpPr/>
          <p:nvPr/>
        </p:nvSpPr>
        <p:spPr>
          <a:xfrm>
            <a:off x="3657600" y="1691640"/>
            <a:ext cx="182880" cy="54864"/>
          </a:xfrm>
          <a:prstGeom prst="rect">
            <a:avLst/>
          </a:prstGeom>
          <a:solidFill>
            <a:srgbClr val="BDC3C7"/>
          </a:solidFill>
          <a:ln w="12700">
            <a:solidFill>
              <a:srgbClr val="BDC3C7"/>
            </a:solidFill>
            <a:prstDash val="solid"/>
          </a:ln>
        </p:spPr>
      </p:sp>
      <p:sp>
        <p:nvSpPr>
          <p:cNvPr id="12" name="Shape 8"/>
          <p:cNvSpPr/>
          <p:nvPr/>
        </p:nvSpPr>
        <p:spPr>
          <a:xfrm>
            <a:off x="3840480" y="1115568"/>
            <a:ext cx="1508760" cy="1325880"/>
          </a:xfrm>
          <a:prstGeom prst="rect">
            <a:avLst/>
          </a:prstGeom>
          <a:solidFill>
            <a:srgbClr val="0D1B2A"/>
          </a:solidFill>
          <a:ln w="6350">
            <a:solidFill>
              <a:srgbClr val="E0E6ED"/>
            </a:solidFill>
            <a:prstDash val="solid"/>
          </a:ln>
          <a:effectLst>
            <a:outerShdw sx="100000" sy="100000" kx="0" ky="0" algn="bl" rotWithShape="0" blurRad="101600" dist="38100" dir="8100000">
              <a:srgbClr val="000000">
                <a:alpha val="12000"/>
              </a:srgbClr>
            </a:outerShdw>
          </a:effectLst>
        </p:spPr>
      </p:sp>
      <p:pic>
        <p:nvPicPr>
          <p:cNvPr id="13" name="Image 2" descr="preencoded.png">    </p:cNvPr>
          <p:cNvPicPr>
            <a:picLocks noChangeAspect="1"/>
          </p:cNvPicPr>
          <p:nvPr/>
        </p:nvPicPr>
        <p:blipFill>
          <a:blip r:embed="rId3"/>
          <a:stretch>
            <a:fillRect/>
          </a:stretch>
        </p:blipFill>
        <p:spPr>
          <a:xfrm>
            <a:off x="4366260" y="1207008"/>
            <a:ext cx="457200" cy="457200"/>
          </a:xfrm>
          <a:prstGeom prst="rect">
            <a:avLst/>
          </a:prstGeom>
        </p:spPr>
      </p:pic>
      <p:sp>
        <p:nvSpPr>
          <p:cNvPr id="14" name="Text 9"/>
          <p:cNvSpPr/>
          <p:nvPr/>
        </p:nvSpPr>
        <p:spPr>
          <a:xfrm>
            <a:off x="3886200" y="1719072"/>
            <a:ext cx="1417320" cy="640080"/>
          </a:xfrm>
          <a:prstGeom prst="rect">
            <a:avLst/>
          </a:prstGeom>
          <a:noFill/>
          <a:ln/>
        </p:spPr>
        <p:txBody>
          <a:bodyPr wrap="square" lIns="0" tIns="0" rIns="0" bIns="0" rtlCol="0" anchor="ctr"/>
          <a:lstStyle/>
          <a:p>
            <a:pPr algn="ctr" indent="0" marL="0">
              <a:buNone/>
            </a:pPr>
            <a:r>
              <a:rPr lang="en-US" sz="1000" b="1" dirty="0">
                <a:solidFill>
                  <a:srgbClr val="E67E22"/>
                </a:solidFill>
                <a:latin typeface="Calibri" pitchFamily="34" charset="0"/>
                <a:ea typeface="Calibri" pitchFamily="34" charset="-122"/>
                <a:cs typeface="Calibri" pitchFamily="34" charset="-120"/>
              </a:rPr>
              <a:t>Traffic</a:t>
            </a:r>
            <a:endParaRPr lang="en-US" sz="1000" dirty="0"/>
          </a:p>
          <a:p>
            <a:pPr algn="ctr" indent="0" marL="0">
              <a:buNone/>
            </a:pPr>
            <a:r>
              <a:rPr lang="en-US" sz="1000" b="1" dirty="0">
                <a:solidFill>
                  <a:srgbClr val="E67E22"/>
                </a:solidFill>
                <a:latin typeface="Calibri" pitchFamily="34" charset="0"/>
                <a:ea typeface="Calibri" pitchFamily="34" charset="-122"/>
                <a:cs typeface="Calibri" pitchFamily="34" charset="-120"/>
              </a:rPr>
              <a:t>Layer</a:t>
            </a:r>
            <a:endParaRPr lang="en-US" sz="1000" dirty="0"/>
          </a:p>
        </p:txBody>
      </p:sp>
      <p:sp>
        <p:nvSpPr>
          <p:cNvPr id="15" name="Shape 10"/>
          <p:cNvSpPr/>
          <p:nvPr/>
        </p:nvSpPr>
        <p:spPr>
          <a:xfrm>
            <a:off x="5349240" y="1691640"/>
            <a:ext cx="182880" cy="54864"/>
          </a:xfrm>
          <a:prstGeom prst="rect">
            <a:avLst/>
          </a:prstGeom>
          <a:solidFill>
            <a:srgbClr val="BDC3C7"/>
          </a:solidFill>
          <a:ln w="12700">
            <a:solidFill>
              <a:srgbClr val="BDC3C7"/>
            </a:solidFill>
            <a:prstDash val="solid"/>
          </a:ln>
        </p:spPr>
      </p:sp>
      <p:sp>
        <p:nvSpPr>
          <p:cNvPr id="16" name="Shape 11"/>
          <p:cNvSpPr/>
          <p:nvPr/>
        </p:nvSpPr>
        <p:spPr>
          <a:xfrm>
            <a:off x="5532120" y="1115568"/>
            <a:ext cx="1508760" cy="1325880"/>
          </a:xfrm>
          <a:prstGeom prst="rect">
            <a:avLst/>
          </a:prstGeom>
          <a:solidFill>
            <a:srgbClr val="0D1B2A"/>
          </a:solidFill>
          <a:ln w="6350">
            <a:solidFill>
              <a:srgbClr val="E0E6ED"/>
            </a:solidFill>
            <a:prstDash val="solid"/>
          </a:ln>
          <a:effectLst>
            <a:outerShdw sx="100000" sy="100000" kx="0" ky="0" algn="bl" rotWithShape="0" blurRad="101600" dist="38100" dir="8100000">
              <a:srgbClr val="000000">
                <a:alpha val="12000"/>
              </a:srgbClr>
            </a:outerShdw>
          </a:effectLst>
        </p:spPr>
      </p:sp>
      <p:pic>
        <p:nvPicPr>
          <p:cNvPr id="17" name="Image 3" descr="preencoded.png">    </p:cNvPr>
          <p:cNvPicPr>
            <a:picLocks noChangeAspect="1"/>
          </p:cNvPicPr>
          <p:nvPr/>
        </p:nvPicPr>
        <p:blipFill>
          <a:blip r:embed="rId4"/>
          <a:stretch>
            <a:fillRect/>
          </a:stretch>
        </p:blipFill>
        <p:spPr>
          <a:xfrm>
            <a:off x="6057900" y="1207008"/>
            <a:ext cx="457200" cy="457200"/>
          </a:xfrm>
          <a:prstGeom prst="rect">
            <a:avLst/>
          </a:prstGeom>
        </p:spPr>
      </p:pic>
      <p:sp>
        <p:nvSpPr>
          <p:cNvPr id="18" name="Text 12"/>
          <p:cNvSpPr/>
          <p:nvPr/>
        </p:nvSpPr>
        <p:spPr>
          <a:xfrm>
            <a:off x="5577840" y="1719072"/>
            <a:ext cx="1417320" cy="640080"/>
          </a:xfrm>
          <a:prstGeom prst="rect">
            <a:avLst/>
          </a:prstGeom>
          <a:noFill/>
          <a:ln/>
        </p:spPr>
        <p:txBody>
          <a:bodyPr wrap="square" lIns="0" tIns="0" rIns="0" bIns="0" rtlCol="0" anchor="ctr"/>
          <a:lstStyle/>
          <a:p>
            <a:pPr algn="ctr" indent="0" marL="0">
              <a:buNone/>
            </a:pPr>
            <a:r>
              <a:rPr lang="en-US" sz="1000" b="1" dirty="0">
                <a:solidFill>
                  <a:srgbClr val="1ABC9C"/>
                </a:solidFill>
                <a:latin typeface="Calibri" pitchFamily="34" charset="0"/>
                <a:ea typeface="Calibri" pitchFamily="34" charset="-122"/>
                <a:cs typeface="Calibri" pitchFamily="34" charset="-120"/>
              </a:rPr>
              <a:t>A* Engine</a:t>
            </a:r>
            <a:endParaRPr lang="en-US" sz="1000" dirty="0"/>
          </a:p>
        </p:txBody>
      </p:sp>
      <p:sp>
        <p:nvSpPr>
          <p:cNvPr id="19" name="Shape 13"/>
          <p:cNvSpPr/>
          <p:nvPr/>
        </p:nvSpPr>
        <p:spPr>
          <a:xfrm>
            <a:off x="7040880" y="1691640"/>
            <a:ext cx="182880" cy="54864"/>
          </a:xfrm>
          <a:prstGeom prst="rect">
            <a:avLst/>
          </a:prstGeom>
          <a:solidFill>
            <a:srgbClr val="BDC3C7"/>
          </a:solidFill>
          <a:ln w="12700">
            <a:solidFill>
              <a:srgbClr val="BDC3C7"/>
            </a:solidFill>
            <a:prstDash val="solid"/>
          </a:ln>
        </p:spPr>
      </p:sp>
      <p:sp>
        <p:nvSpPr>
          <p:cNvPr id="20" name="Shape 14"/>
          <p:cNvSpPr/>
          <p:nvPr/>
        </p:nvSpPr>
        <p:spPr>
          <a:xfrm>
            <a:off x="7223760" y="1115568"/>
            <a:ext cx="1508760" cy="1325880"/>
          </a:xfrm>
          <a:prstGeom prst="rect">
            <a:avLst/>
          </a:prstGeom>
          <a:solidFill>
            <a:srgbClr val="0D1B2A"/>
          </a:solidFill>
          <a:ln w="6350">
            <a:solidFill>
              <a:srgbClr val="E0E6ED"/>
            </a:solidFill>
            <a:prstDash val="solid"/>
          </a:ln>
          <a:effectLst>
            <a:outerShdw sx="100000" sy="100000" kx="0" ky="0" algn="bl" rotWithShape="0" blurRad="101600" dist="38100" dir="8100000">
              <a:srgbClr val="000000">
                <a:alpha val="12000"/>
              </a:srgbClr>
            </a:outerShdw>
          </a:effectLst>
        </p:spPr>
      </p:sp>
      <p:pic>
        <p:nvPicPr>
          <p:cNvPr id="21" name="Image 4" descr="preencoded.png">    </p:cNvPr>
          <p:cNvPicPr>
            <a:picLocks noChangeAspect="1"/>
          </p:cNvPicPr>
          <p:nvPr/>
        </p:nvPicPr>
        <p:blipFill>
          <a:blip r:embed="rId5"/>
          <a:stretch>
            <a:fillRect/>
          </a:stretch>
        </p:blipFill>
        <p:spPr>
          <a:xfrm>
            <a:off x="7749540" y="1207008"/>
            <a:ext cx="457200" cy="457200"/>
          </a:xfrm>
          <a:prstGeom prst="rect">
            <a:avLst/>
          </a:prstGeom>
        </p:spPr>
      </p:pic>
      <p:sp>
        <p:nvSpPr>
          <p:cNvPr id="22" name="Text 15"/>
          <p:cNvSpPr/>
          <p:nvPr/>
        </p:nvSpPr>
        <p:spPr>
          <a:xfrm>
            <a:off x="7269480" y="1719072"/>
            <a:ext cx="1417320" cy="640080"/>
          </a:xfrm>
          <a:prstGeom prst="rect">
            <a:avLst/>
          </a:prstGeom>
          <a:noFill/>
          <a:ln/>
        </p:spPr>
        <p:txBody>
          <a:bodyPr wrap="square" lIns="0" tIns="0" rIns="0" bIns="0" rtlCol="0" anchor="ctr"/>
          <a:lstStyle/>
          <a:p>
            <a:pPr algn="ctr" indent="0" marL="0">
              <a:buNone/>
            </a:pPr>
            <a:r>
              <a:rPr lang="en-US" sz="1000" b="1" dirty="0">
                <a:solidFill>
                  <a:srgbClr val="27AE60"/>
                </a:solidFill>
                <a:latin typeface="Calibri" pitchFamily="34" charset="0"/>
                <a:ea typeface="Calibri" pitchFamily="34" charset="-122"/>
                <a:cs typeface="Calibri" pitchFamily="34" charset="-120"/>
              </a:rPr>
              <a:t>Response</a:t>
            </a:r>
            <a:endParaRPr lang="en-US" sz="1000" dirty="0"/>
          </a:p>
          <a:p>
            <a:pPr algn="ctr" indent="0" marL="0">
              <a:buNone/>
            </a:pPr>
            <a:r>
              <a:rPr lang="en-US" sz="1000" b="1" dirty="0">
                <a:solidFill>
                  <a:srgbClr val="27AE60"/>
                </a:solidFill>
                <a:latin typeface="Calibri" pitchFamily="34" charset="0"/>
                <a:ea typeface="Calibri" pitchFamily="34" charset="-122"/>
                <a:cs typeface="Calibri" pitchFamily="34" charset="-120"/>
              </a:rPr>
              <a:t>JSON</a:t>
            </a:r>
            <a:endParaRPr lang="en-US" sz="1000" dirty="0"/>
          </a:p>
        </p:txBody>
      </p:sp>
      <p:sp>
        <p:nvSpPr>
          <p:cNvPr id="23" name="Shape 16"/>
          <p:cNvSpPr/>
          <p:nvPr/>
        </p:nvSpPr>
        <p:spPr>
          <a:xfrm>
            <a:off x="457200" y="2633472"/>
            <a:ext cx="2697480" cy="2331720"/>
          </a:xfrm>
          <a:prstGeom prst="rect">
            <a:avLst/>
          </a:prstGeom>
          <a:solidFill>
            <a:srgbClr val="FFFFFF"/>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24" name="Shape 17"/>
          <p:cNvSpPr/>
          <p:nvPr/>
        </p:nvSpPr>
        <p:spPr>
          <a:xfrm>
            <a:off x="457200" y="2633472"/>
            <a:ext cx="64008" cy="2331720"/>
          </a:xfrm>
          <a:prstGeom prst="rect">
            <a:avLst/>
          </a:prstGeom>
          <a:solidFill>
            <a:srgbClr val="1ABC9C"/>
          </a:solidFill>
          <a:ln w="12700">
            <a:solidFill>
              <a:srgbClr val="1ABC9C"/>
            </a:solidFill>
            <a:prstDash val="solid"/>
          </a:ln>
        </p:spPr>
      </p:sp>
      <p:sp>
        <p:nvSpPr>
          <p:cNvPr id="25" name="Text 18"/>
          <p:cNvSpPr/>
          <p:nvPr/>
        </p:nvSpPr>
        <p:spPr>
          <a:xfrm>
            <a:off x="594360" y="2724912"/>
            <a:ext cx="2423160" cy="36576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Route Planning Page</a:t>
            </a:r>
            <a:endParaRPr lang="en-US" sz="1100" dirty="0"/>
          </a:p>
        </p:txBody>
      </p:sp>
      <p:sp>
        <p:nvSpPr>
          <p:cNvPr id="26" name="Text 19"/>
          <p:cNvSpPr/>
          <p:nvPr/>
        </p:nvSpPr>
        <p:spPr>
          <a:xfrm>
            <a:off x="594360" y="3145536"/>
            <a:ext cx="2423160" cy="438912"/>
          </a:xfrm>
          <a:prstGeom prst="rect">
            <a:avLst/>
          </a:prstGeom>
          <a:noFill/>
          <a:ln/>
        </p:spPr>
        <p:txBody>
          <a:bodyPr wrap="square" lIns="0" tIns="0" rIns="0" bIns="0" rtlCol="0" anchor="ctr"/>
          <a:lstStyle/>
          <a:p>
            <a:pPr indent="0" marL="0">
              <a:buNone/>
            </a:pPr>
            <a:r>
              <a:rPr lang="en-US" sz="1000" b="1" dirty="0">
                <a:solidFill>
                  <a:srgbClr val="1ABC9C"/>
                </a:solidFill>
                <a:latin typeface="Calibri" pitchFamily="34" charset="0"/>
                <a:ea typeface="Calibri" pitchFamily="34" charset="-122"/>
                <a:cs typeface="Calibri" pitchFamily="34" charset="-120"/>
              </a:rPr>
              <a:t>▸  </a:t>
            </a:r>
            <a:pPr indent="0" marL="0">
              <a:buNone/>
            </a:pPr>
            <a:r>
              <a:rPr lang="en-US" sz="1000" dirty="0">
                <a:solidFill>
                  <a:srgbClr val="5D6D7E"/>
                </a:solidFill>
                <a:latin typeface="Calibri" pitchFamily="34" charset="0"/>
                <a:ea typeface="Calibri" pitchFamily="34" charset="-122"/>
                <a:cs typeface="Calibri" pitchFamily="34" charset="-120"/>
              </a:rPr>
              <a:t>User selects source &amp; destination</a:t>
            </a:r>
            <a:endParaRPr lang="en-US" sz="1000" dirty="0"/>
          </a:p>
        </p:txBody>
      </p:sp>
      <p:sp>
        <p:nvSpPr>
          <p:cNvPr id="27" name="Text 20"/>
          <p:cNvSpPr/>
          <p:nvPr/>
        </p:nvSpPr>
        <p:spPr>
          <a:xfrm>
            <a:off x="594360" y="3621024"/>
            <a:ext cx="2423160" cy="438912"/>
          </a:xfrm>
          <a:prstGeom prst="rect">
            <a:avLst/>
          </a:prstGeom>
          <a:noFill/>
          <a:ln/>
        </p:spPr>
        <p:txBody>
          <a:bodyPr wrap="square" lIns="0" tIns="0" rIns="0" bIns="0" rtlCol="0" anchor="ctr"/>
          <a:lstStyle/>
          <a:p>
            <a:pPr indent="0" marL="0">
              <a:buNone/>
            </a:pPr>
            <a:r>
              <a:rPr lang="en-US" sz="1000" b="1" dirty="0">
                <a:solidFill>
                  <a:srgbClr val="1ABC9C"/>
                </a:solidFill>
                <a:latin typeface="Calibri" pitchFamily="34" charset="0"/>
                <a:ea typeface="Calibri" pitchFamily="34" charset="-122"/>
                <a:cs typeface="Calibri" pitchFamily="34" charset="-120"/>
              </a:rPr>
              <a:t>▸  </a:t>
            </a:r>
            <a:pPr indent="0" marL="0">
              <a:buNone/>
            </a:pPr>
            <a:r>
              <a:rPr lang="en-US" sz="1000" dirty="0">
                <a:solidFill>
                  <a:srgbClr val="5D6D7E"/>
                </a:solidFill>
                <a:latin typeface="Calibri" pitchFamily="34" charset="0"/>
                <a:ea typeface="Calibri" pitchFamily="34" charset="-122"/>
                <a:cs typeface="Calibri" pitchFamily="34" charset="-120"/>
              </a:rPr>
              <a:t>A*, Dijkstra, and Greedy all execute</a:t>
            </a:r>
            <a:endParaRPr lang="en-US" sz="1000" dirty="0"/>
          </a:p>
        </p:txBody>
      </p:sp>
      <p:sp>
        <p:nvSpPr>
          <p:cNvPr id="28" name="Text 21"/>
          <p:cNvSpPr/>
          <p:nvPr/>
        </p:nvSpPr>
        <p:spPr>
          <a:xfrm>
            <a:off x="594360" y="4096512"/>
            <a:ext cx="2423160" cy="438912"/>
          </a:xfrm>
          <a:prstGeom prst="rect">
            <a:avLst/>
          </a:prstGeom>
          <a:noFill/>
          <a:ln/>
        </p:spPr>
        <p:txBody>
          <a:bodyPr wrap="square" lIns="0" tIns="0" rIns="0" bIns="0" rtlCol="0" anchor="ctr"/>
          <a:lstStyle/>
          <a:p>
            <a:pPr indent="0" marL="0">
              <a:buNone/>
            </a:pPr>
            <a:r>
              <a:rPr lang="en-US" sz="1000" b="1" dirty="0">
                <a:solidFill>
                  <a:srgbClr val="1ABC9C"/>
                </a:solidFill>
                <a:latin typeface="Calibri" pitchFamily="34" charset="0"/>
                <a:ea typeface="Calibri" pitchFamily="34" charset="-122"/>
                <a:cs typeface="Calibri" pitchFamily="34" charset="-120"/>
              </a:rPr>
              <a:t>▸  </a:t>
            </a:r>
            <a:pPr indent="0" marL="0">
              <a:buNone/>
            </a:pPr>
            <a:r>
              <a:rPr lang="en-US" sz="1000" dirty="0">
                <a:solidFill>
                  <a:srgbClr val="5D6D7E"/>
                </a:solidFill>
                <a:latin typeface="Calibri" pitchFamily="34" charset="0"/>
                <a:ea typeface="Calibri" pitchFamily="34" charset="-122"/>
                <a:cs typeface="Calibri" pitchFamily="34" charset="-120"/>
              </a:rPr>
              <a:t>Results compared side-by-side</a:t>
            </a:r>
            <a:endParaRPr lang="en-US" sz="1000" dirty="0"/>
          </a:p>
        </p:txBody>
      </p:sp>
      <p:sp>
        <p:nvSpPr>
          <p:cNvPr id="29" name="Shape 22"/>
          <p:cNvSpPr/>
          <p:nvPr/>
        </p:nvSpPr>
        <p:spPr>
          <a:xfrm>
            <a:off x="3337560" y="2633472"/>
            <a:ext cx="2697480" cy="2331720"/>
          </a:xfrm>
          <a:prstGeom prst="rect">
            <a:avLst/>
          </a:prstGeom>
          <a:solidFill>
            <a:srgbClr val="FFFFFF"/>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30" name="Shape 23"/>
          <p:cNvSpPr/>
          <p:nvPr/>
        </p:nvSpPr>
        <p:spPr>
          <a:xfrm>
            <a:off x="3337560" y="2633472"/>
            <a:ext cx="64008" cy="2331720"/>
          </a:xfrm>
          <a:prstGeom prst="rect">
            <a:avLst/>
          </a:prstGeom>
          <a:solidFill>
            <a:srgbClr val="E74C3C"/>
          </a:solidFill>
          <a:ln w="12700">
            <a:solidFill>
              <a:srgbClr val="E74C3C"/>
            </a:solidFill>
            <a:prstDash val="solid"/>
          </a:ln>
        </p:spPr>
      </p:sp>
      <p:sp>
        <p:nvSpPr>
          <p:cNvPr id="31" name="Text 24"/>
          <p:cNvSpPr/>
          <p:nvPr/>
        </p:nvSpPr>
        <p:spPr>
          <a:xfrm>
            <a:off x="3474720" y="2724912"/>
            <a:ext cx="2423160" cy="36576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Emergency Routing Page</a:t>
            </a:r>
            <a:endParaRPr lang="en-US" sz="1100" dirty="0"/>
          </a:p>
        </p:txBody>
      </p:sp>
      <p:sp>
        <p:nvSpPr>
          <p:cNvPr id="32" name="Text 25"/>
          <p:cNvSpPr/>
          <p:nvPr/>
        </p:nvSpPr>
        <p:spPr>
          <a:xfrm>
            <a:off x="3474720" y="3145536"/>
            <a:ext cx="2423160" cy="438912"/>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  </a:t>
            </a:r>
            <a:pPr indent="0" marL="0">
              <a:buNone/>
            </a:pPr>
            <a:r>
              <a:rPr lang="en-US" sz="1000" dirty="0">
                <a:solidFill>
                  <a:srgbClr val="5D6D7E"/>
                </a:solidFill>
                <a:latin typeface="Calibri" pitchFamily="34" charset="0"/>
                <a:ea typeface="Calibri" pitchFamily="34" charset="-122"/>
                <a:cs typeface="Calibri" pitchFamily="34" charset="-120"/>
              </a:rPr>
              <a:t>Priority-aware A* variant</a:t>
            </a:r>
            <a:endParaRPr lang="en-US" sz="1000" dirty="0"/>
          </a:p>
        </p:txBody>
      </p:sp>
      <p:sp>
        <p:nvSpPr>
          <p:cNvPr id="33" name="Text 26"/>
          <p:cNvSpPr/>
          <p:nvPr/>
        </p:nvSpPr>
        <p:spPr>
          <a:xfrm>
            <a:off x="3474720" y="3621024"/>
            <a:ext cx="2423160" cy="438912"/>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  </a:t>
            </a:r>
            <a:pPr indent="0" marL="0">
              <a:buNone/>
            </a:pPr>
            <a:r>
              <a:rPr lang="en-US" sz="1000" dirty="0">
                <a:solidFill>
                  <a:srgbClr val="5D6D7E"/>
                </a:solidFill>
                <a:latin typeface="Calibri" pitchFamily="34" charset="0"/>
                <a:ea typeface="Calibri" pitchFamily="34" charset="-122"/>
                <a:cs typeface="Calibri" pitchFamily="34" charset="-120"/>
              </a:rPr>
              <a:t>Priority factor parameter exposed</a:t>
            </a:r>
            <a:endParaRPr lang="en-US" sz="1000" dirty="0"/>
          </a:p>
        </p:txBody>
      </p:sp>
      <p:sp>
        <p:nvSpPr>
          <p:cNvPr id="34" name="Text 27"/>
          <p:cNvSpPr/>
          <p:nvPr/>
        </p:nvSpPr>
        <p:spPr>
          <a:xfrm>
            <a:off x="3474720" y="4096512"/>
            <a:ext cx="2423160" cy="438912"/>
          </a:xfrm>
          <a:prstGeom prst="rect">
            <a:avLst/>
          </a:prstGeom>
          <a:noFill/>
          <a:ln/>
        </p:spPr>
        <p:txBody>
          <a:bodyPr wrap="square" lIns="0" tIns="0" rIns="0" bIns="0" rtlCol="0" anchor="ctr"/>
          <a:lstStyle/>
          <a:p>
            <a:pPr indent="0" marL="0">
              <a:buNone/>
            </a:pPr>
            <a:r>
              <a:rPr lang="en-US" sz="1000" b="1" dirty="0">
                <a:solidFill>
                  <a:srgbClr val="E74C3C"/>
                </a:solidFill>
                <a:latin typeface="Calibri" pitchFamily="34" charset="0"/>
                <a:ea typeface="Calibri" pitchFamily="34" charset="-122"/>
                <a:cs typeface="Calibri" pitchFamily="34" charset="-120"/>
              </a:rPr>
              <a:t>▸  </a:t>
            </a:r>
            <a:pPr indent="0" marL="0">
              <a:buNone/>
            </a:pPr>
            <a:r>
              <a:rPr lang="en-US" sz="1000" dirty="0">
                <a:solidFill>
                  <a:srgbClr val="5D6D7E"/>
                </a:solidFill>
                <a:latin typeface="Calibri" pitchFamily="34" charset="0"/>
                <a:ea typeface="Calibri" pitchFamily="34" charset="-122"/>
                <a:cs typeface="Calibri" pitchFamily="34" charset="-120"/>
              </a:rPr>
              <a:t>Dedicated routing interface</a:t>
            </a:r>
            <a:endParaRPr lang="en-US" sz="1000" dirty="0"/>
          </a:p>
        </p:txBody>
      </p:sp>
      <p:sp>
        <p:nvSpPr>
          <p:cNvPr id="35" name="Shape 28"/>
          <p:cNvSpPr/>
          <p:nvPr/>
        </p:nvSpPr>
        <p:spPr>
          <a:xfrm>
            <a:off x="6217920" y="2633472"/>
            <a:ext cx="2697480" cy="2331720"/>
          </a:xfrm>
          <a:prstGeom prst="rect">
            <a:avLst/>
          </a:prstGeom>
          <a:solidFill>
            <a:srgbClr val="FFFFFF"/>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36" name="Shape 29"/>
          <p:cNvSpPr/>
          <p:nvPr/>
        </p:nvSpPr>
        <p:spPr>
          <a:xfrm>
            <a:off x="6217920" y="2633472"/>
            <a:ext cx="64008" cy="2331720"/>
          </a:xfrm>
          <a:prstGeom prst="rect">
            <a:avLst/>
          </a:prstGeom>
          <a:solidFill>
            <a:srgbClr val="3498DB"/>
          </a:solidFill>
          <a:ln w="12700">
            <a:solidFill>
              <a:srgbClr val="3498DB"/>
            </a:solidFill>
            <a:prstDash val="solid"/>
          </a:ln>
        </p:spPr>
      </p:sp>
      <p:sp>
        <p:nvSpPr>
          <p:cNvPr id="37" name="Text 30"/>
          <p:cNvSpPr/>
          <p:nvPr/>
        </p:nvSpPr>
        <p:spPr>
          <a:xfrm>
            <a:off x="6355080" y="2724912"/>
            <a:ext cx="2423160" cy="365760"/>
          </a:xfrm>
          <a:prstGeom prst="rect">
            <a:avLst/>
          </a:prstGeom>
          <a:noFill/>
          <a:ln/>
        </p:spPr>
        <p:txBody>
          <a:bodyPr wrap="square" lIns="0" tIns="0" rIns="0" bIns="0"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Comparison Page</a:t>
            </a:r>
            <a:endParaRPr lang="en-US" sz="1100" dirty="0"/>
          </a:p>
        </p:txBody>
      </p:sp>
      <p:sp>
        <p:nvSpPr>
          <p:cNvPr id="38" name="Text 31"/>
          <p:cNvSpPr/>
          <p:nvPr/>
        </p:nvSpPr>
        <p:spPr>
          <a:xfrm>
            <a:off x="6355080" y="3145536"/>
            <a:ext cx="2423160" cy="438912"/>
          </a:xfrm>
          <a:prstGeom prst="rect">
            <a:avLst/>
          </a:prstGeom>
          <a:noFill/>
          <a:ln/>
        </p:spPr>
        <p:txBody>
          <a:bodyPr wrap="square" lIns="0" tIns="0" rIns="0" bIns="0" rtlCol="0" anchor="ctr"/>
          <a:lstStyle/>
          <a:p>
            <a:pPr indent="0" marL="0">
              <a:buNone/>
            </a:pPr>
            <a:r>
              <a:rPr lang="en-US" sz="1000" b="1" dirty="0">
                <a:solidFill>
                  <a:srgbClr val="3498DB"/>
                </a:solidFill>
                <a:latin typeface="Calibri" pitchFamily="34" charset="0"/>
                <a:ea typeface="Calibri" pitchFamily="34" charset="-122"/>
                <a:cs typeface="Calibri" pitchFamily="34" charset="-120"/>
              </a:rPr>
              <a:t>▸  </a:t>
            </a:r>
            <a:pPr indent="0" marL="0">
              <a:buNone/>
            </a:pPr>
            <a:r>
              <a:rPr lang="en-US" sz="1000" dirty="0">
                <a:solidFill>
                  <a:srgbClr val="5D6D7E"/>
                </a:solidFill>
                <a:latin typeface="Calibri" pitchFamily="34" charset="0"/>
                <a:ea typeface="Calibri" pitchFamily="34" charset="-122"/>
                <a:cs typeface="Calibri" pitchFamily="34" charset="-120"/>
              </a:rPr>
              <a:t>Controlled benchmarks on same graph</a:t>
            </a:r>
            <a:endParaRPr lang="en-US" sz="1000" dirty="0"/>
          </a:p>
        </p:txBody>
      </p:sp>
      <p:sp>
        <p:nvSpPr>
          <p:cNvPr id="39" name="Text 32"/>
          <p:cNvSpPr/>
          <p:nvPr/>
        </p:nvSpPr>
        <p:spPr>
          <a:xfrm>
            <a:off x="6355080" y="3621024"/>
            <a:ext cx="2423160" cy="438912"/>
          </a:xfrm>
          <a:prstGeom prst="rect">
            <a:avLst/>
          </a:prstGeom>
          <a:noFill/>
          <a:ln/>
        </p:spPr>
        <p:txBody>
          <a:bodyPr wrap="square" lIns="0" tIns="0" rIns="0" bIns="0" rtlCol="0" anchor="ctr"/>
          <a:lstStyle/>
          <a:p>
            <a:pPr indent="0" marL="0">
              <a:buNone/>
            </a:pPr>
            <a:r>
              <a:rPr lang="en-US" sz="1000" b="1" dirty="0">
                <a:solidFill>
                  <a:srgbClr val="3498DB"/>
                </a:solidFill>
                <a:latin typeface="Calibri" pitchFamily="34" charset="0"/>
                <a:ea typeface="Calibri" pitchFamily="34" charset="-122"/>
                <a:cs typeface="Calibri" pitchFamily="34" charset="-120"/>
              </a:rPr>
              <a:t>▸  </a:t>
            </a:r>
            <a:pPr indent="0" marL="0">
              <a:buNone/>
            </a:pPr>
            <a:r>
              <a:rPr lang="en-US" sz="1000" dirty="0">
                <a:solidFill>
                  <a:srgbClr val="5D6D7E"/>
                </a:solidFill>
                <a:latin typeface="Calibri" pitchFamily="34" charset="0"/>
                <a:ea typeface="Calibri" pitchFamily="34" charset="-122"/>
                <a:cs typeface="Calibri" pitchFamily="34" charset="-120"/>
              </a:rPr>
              <a:t>Reports path cost &amp; nodes expanded</a:t>
            </a:r>
            <a:endParaRPr lang="en-US" sz="1000" dirty="0"/>
          </a:p>
        </p:txBody>
      </p:sp>
      <p:sp>
        <p:nvSpPr>
          <p:cNvPr id="40" name="Text 33"/>
          <p:cNvSpPr/>
          <p:nvPr/>
        </p:nvSpPr>
        <p:spPr>
          <a:xfrm>
            <a:off x="6355080" y="4096512"/>
            <a:ext cx="2423160" cy="438912"/>
          </a:xfrm>
          <a:prstGeom prst="rect">
            <a:avLst/>
          </a:prstGeom>
          <a:noFill/>
          <a:ln/>
        </p:spPr>
        <p:txBody>
          <a:bodyPr wrap="square" lIns="0" tIns="0" rIns="0" bIns="0" rtlCol="0" anchor="ctr"/>
          <a:lstStyle/>
          <a:p>
            <a:pPr indent="0" marL="0">
              <a:buNone/>
            </a:pPr>
            <a:r>
              <a:rPr lang="en-US" sz="1000" b="1" dirty="0">
                <a:solidFill>
                  <a:srgbClr val="3498DB"/>
                </a:solidFill>
                <a:latin typeface="Calibri" pitchFamily="34" charset="0"/>
                <a:ea typeface="Calibri" pitchFamily="34" charset="-122"/>
                <a:cs typeface="Calibri" pitchFamily="34" charset="-120"/>
              </a:rPr>
              <a:t>▸  </a:t>
            </a:r>
            <a:pPr indent="0" marL="0">
              <a:buNone/>
            </a:pPr>
            <a:r>
              <a:rPr lang="en-US" sz="1000" dirty="0">
                <a:solidFill>
                  <a:srgbClr val="5D6D7E"/>
                </a:solidFill>
                <a:latin typeface="Calibri" pitchFamily="34" charset="0"/>
                <a:ea typeface="Calibri" pitchFamily="34" charset="-122"/>
                <a:cs typeface="Calibri" pitchFamily="34" charset="-120"/>
              </a:rPr>
              <a:t>Algorithm strengths highlighted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457200" y="164592"/>
            <a:ext cx="8229600" cy="548640"/>
          </a:xfrm>
          <a:prstGeom prst="rect">
            <a:avLst/>
          </a:prstGeom>
          <a:noFill/>
          <a:ln/>
        </p:spPr>
        <p:txBody>
          <a:bodyPr wrap="square" lIns="0" tIns="0" rIns="0" bIns="0" rtlCol="0" anchor="ctr"/>
          <a:lstStyle/>
          <a:p>
            <a:pPr algn="l" indent="0" marL="0">
              <a:buNone/>
            </a:pPr>
            <a:r>
              <a:rPr lang="en-US" sz="2800" b="1" dirty="0">
                <a:solidFill>
                  <a:srgbClr val="0D1B2A"/>
                </a:solidFill>
                <a:latin typeface="Calibri" pitchFamily="34" charset="0"/>
                <a:ea typeface="Calibri" pitchFamily="34" charset="-122"/>
                <a:cs typeface="Calibri" pitchFamily="34" charset="-120"/>
              </a:rPr>
              <a:t>Algorithm Comparison — Qualitative Analysis</a:t>
            </a:r>
            <a:endParaRPr lang="en-US" sz="2800" dirty="0"/>
          </a:p>
        </p:txBody>
      </p:sp>
      <p:sp>
        <p:nvSpPr>
          <p:cNvPr id="3" name="Shape 1"/>
          <p:cNvSpPr/>
          <p:nvPr/>
        </p:nvSpPr>
        <p:spPr>
          <a:xfrm>
            <a:off x="457200" y="960120"/>
            <a:ext cx="8229600" cy="22860"/>
          </a:xfrm>
          <a:prstGeom prst="rect">
            <a:avLst/>
          </a:prstGeom>
          <a:solidFill>
            <a:srgbClr val="1ABC9C"/>
          </a:solidFill>
          <a:ln w="12700">
            <a:solidFill>
              <a:srgbClr val="1ABC9C"/>
            </a:solidFill>
            <a:prstDash val="solid"/>
          </a:ln>
        </p:spPr>
      </p:sp>
      <p:graphicFrame>
        <p:nvGraphicFramePr>
          <p:cNvPr id="4" name="Chart 0" descr=""/>
          <p:cNvGraphicFramePr/>
          <p:nvPr/>
        </p:nvGraphicFramePr>
        <p:xfrm>
          <a:off x="457200" y="1051560"/>
          <a:ext cx="484632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0" y="1051560"/>
          <a:ext cx="3200400" cy="3291840"/>
        </p:xfrm>
        <a:graphic>
          <a:graphicData uri="http://schemas.openxmlformats.org/drawingml/2006/table">
            <a:tbl>
              <a:tblPr/>
              <a:tblGrid>
                <a:gridCol w="1188720"/>
                <a:gridCol w="594360"/>
                <a:gridCol w="685800"/>
                <a:gridCol w="731520"/>
              </a:tblGrid>
              <a:tr h="475488">
                <a:tc>
                  <a:txBody>
                    <a:bodyPr/>
                    <a:lstStyle/>
                    <a:p>
                      <a:pPr algn="ctr" indent="0" marL="0">
                        <a:buNone/>
                      </a:pPr>
                      <a:r>
                        <a:rPr lang="en-US" sz="1200" b="1" dirty="0">
                          <a:solidFill>
                            <a:srgbClr val="FFFFFF"/>
                          </a:solidFill>
                        </a:rPr>
                        <a:t>Criterion</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B4F72"/>
                    </a:solidFill>
                  </a:tcPr>
                </a:tc>
                <a:tc>
                  <a:txBody>
                    <a:bodyPr/>
                    <a:lstStyle/>
                    <a:p>
                      <a:pPr algn="ctr" indent="0" marL="0">
                        <a:buNone/>
                      </a:pPr>
                      <a:r>
                        <a:rPr lang="en-US" sz="1200" b="1" dirty="0">
                          <a:solidFill>
                            <a:srgbClr val="FFFFFF"/>
                          </a:solidFill>
                        </a:rPr>
                        <a:t>Greedy</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922B21"/>
                    </a:solidFill>
                  </a:tcPr>
                </a:tc>
                <a:tc>
                  <a:txBody>
                    <a:bodyPr/>
                    <a:lstStyle/>
                    <a:p>
                      <a:pPr algn="ctr" indent="0" marL="0">
                        <a:buNone/>
                      </a:pPr>
                      <a:r>
                        <a:rPr lang="en-US" sz="900" b="1" dirty="0">
                          <a:solidFill>
                            <a:srgbClr val="FFFFFF"/>
                          </a:solidFill>
                        </a:rPr>
                        <a:t>Dijkstra</a:t>
                      </a:r>
                      <a:endParaRPr lang="en-US" sz="9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B4F72"/>
                    </a:solidFill>
                  </a:tcPr>
                </a:tc>
                <a:tc>
                  <a:txBody>
                    <a:bodyPr/>
                    <a:lstStyle/>
                    <a:p>
                      <a:pPr algn="ctr" indent="0" marL="0">
                        <a:buNone/>
                      </a:pPr>
                      <a:r>
                        <a:rPr lang="en-US" sz="1200" b="1" dirty="0">
                          <a:solidFill>
                            <a:srgbClr val="0D1B2A"/>
                          </a:solidFill>
                        </a:rPr>
                        <a:t>A*</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ABC9C"/>
                    </a:solidFill>
                  </a:tcPr>
                </a:tc>
              </a:tr>
              <a:tr h="475488">
                <a:tc>
                  <a:txBody>
                    <a:bodyPr/>
                    <a:lstStyle/>
                    <a:p>
                      <a:pPr algn="ctr" indent="0" marL="0">
                        <a:buNone/>
                      </a:pPr>
                      <a:r>
                        <a:rPr lang="en-US" sz="1200" dirty="0">
                          <a:solidFill>
                            <a:srgbClr val="5D6D7E"/>
                          </a:solidFill>
                        </a:rPr>
                        <a:t>Optimality</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922B21"/>
                          </a:solidFill>
                        </a:rPr>
                        <a:t>✗</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D6D7E"/>
                          </a:solidFill>
                        </a:rPr>
                        <a:t>✓</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D6E55"/>
                          </a:solidFill>
                        </a:rPr>
                        <a:t>✓</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EBF9F5"/>
                    </a:solidFill>
                  </a:tcPr>
                </a:tc>
              </a:tr>
              <a:tr h="475488">
                <a:tc>
                  <a:txBody>
                    <a:bodyPr/>
                    <a:lstStyle/>
                    <a:p>
                      <a:pPr algn="ctr" indent="0" marL="0">
                        <a:buNone/>
                      </a:pPr>
                      <a:r>
                        <a:rPr lang="en-US" sz="1200" dirty="0">
                          <a:solidFill>
                            <a:srgbClr val="5D6D7E"/>
                          </a:solidFill>
                        </a:rPr>
                        <a:t>Node Efficiency</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5D6D7E"/>
                          </a:solidFill>
                        </a:rPr>
                        <a:t>High</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D6D7E"/>
                          </a:solidFill>
                        </a:rPr>
                        <a:t>Low</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D1B2A"/>
                          </a:solidFill>
                        </a:rPr>
                        <a:t>Medium</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EBF9F5"/>
                    </a:solidFill>
                  </a:tcPr>
                </a:tc>
              </a:tr>
              <a:tr h="475488">
                <a:tc>
                  <a:txBody>
                    <a:bodyPr/>
                    <a:lstStyle/>
                    <a:p>
                      <a:pPr algn="ctr" indent="0" marL="0">
                        <a:buNone/>
                      </a:pPr>
                      <a:r>
                        <a:rPr lang="en-US" sz="1200" dirty="0">
                          <a:solidFill>
                            <a:srgbClr val="5D6D7E"/>
                          </a:solidFill>
                        </a:rPr>
                        <a:t>Emergency</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922B21"/>
                          </a:solidFill>
                        </a:rPr>
                        <a:t>No</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D6D7E"/>
                          </a:solidFill>
                        </a:rPr>
                        <a:t>Possible</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D6E55"/>
                          </a:solidFill>
                        </a:rPr>
                        <a:t>Best</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EBF9F5"/>
                    </a:solidFill>
                  </a:tcPr>
                </a:tc>
              </a:tr>
              <a:tr h="475488">
                <a:tc>
                  <a:txBody>
                    <a:bodyPr/>
                    <a:lstStyle/>
                    <a:p>
                      <a:pPr algn="ctr" indent="0" marL="0">
                        <a:buNone/>
                      </a:pPr>
                      <a:r>
                        <a:rPr lang="en-US" sz="1200" dirty="0">
                          <a:solidFill>
                            <a:srgbClr val="5D6D7E"/>
                          </a:solidFill>
                        </a:rPr>
                        <a:t>Traffic Weights</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922B21"/>
                          </a:solidFill>
                        </a:rPr>
                        <a:t>Poor</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D6D7E"/>
                          </a:solidFill>
                        </a:rPr>
                        <a:t>Full</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D6E55"/>
                          </a:solidFill>
                        </a:rPr>
                        <a:t>Full</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EBF9F5"/>
                    </a:solidFill>
                  </a:tcPr>
                </a:tc>
              </a:tr>
              <a:tr h="475488">
                <a:tc>
                  <a:txBody>
                    <a:bodyPr/>
                    <a:lstStyle/>
                    <a:p>
                      <a:pPr algn="ctr" indent="0" marL="0">
                        <a:buNone/>
                      </a:pPr>
                      <a:r>
                        <a:rPr lang="en-US" sz="1200" dirty="0">
                          <a:solidFill>
                            <a:srgbClr val="5D6D7E"/>
                          </a:solidFill>
                        </a:rPr>
                        <a:t>Completeness</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8"/>
                    </a:solidFill>
                  </a:tcPr>
                </a:tc>
                <a:tc>
                  <a:txBody>
                    <a:bodyPr/>
                    <a:lstStyle/>
                    <a:p>
                      <a:pPr algn="ctr" indent="0" marL="0">
                        <a:buNone/>
                      </a:pPr>
                      <a:r>
                        <a:rPr lang="en-US" sz="1200" dirty="0">
                          <a:solidFill>
                            <a:srgbClr val="922B21"/>
                          </a:solidFill>
                        </a:rPr>
                        <a:t>No</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D6D7E"/>
                          </a:solidFill>
                        </a:rPr>
                        <a:t>Yes</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D1B2A"/>
                          </a:solidFill>
                        </a:rPr>
                        <a:t>Yes</a:t>
                      </a:r>
                      <a:endParaRPr lang="en-US" sz="1200" dirty="0"/>
                    </a:p>
                  </a:txBody>
                  <a:tcPr marL="91440" marR="91440" marT="45720" marB="45720" anchor="ctr">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EBF9F5"/>
                    </a:solidFill>
                  </a:tcPr>
                </a:tc>
              </a:tr>
            </a:tbl>
          </a:graphicData>
        </a:graphic>
      </p:graphicFrame>
      <p:sp>
        <p:nvSpPr>
          <p:cNvPr id="6" name="Shape 2"/>
          <p:cNvSpPr/>
          <p:nvPr/>
        </p:nvSpPr>
        <p:spPr>
          <a:xfrm>
            <a:off x="457200" y="4526280"/>
            <a:ext cx="8229600" cy="438912"/>
          </a:xfrm>
          <a:prstGeom prst="rect">
            <a:avLst/>
          </a:prstGeom>
          <a:solidFill>
            <a:srgbClr val="0D1B2A"/>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7" name="Text 3"/>
          <p:cNvSpPr/>
          <p:nvPr/>
        </p:nvSpPr>
        <p:spPr>
          <a:xfrm>
            <a:off x="640080" y="4590288"/>
            <a:ext cx="7863840" cy="320040"/>
          </a:xfrm>
          <a:prstGeom prst="rect">
            <a:avLst/>
          </a:prstGeom>
          <a:noFill/>
          <a:ln/>
        </p:spPr>
        <p:txBody>
          <a:bodyPr wrap="square" lIns="0" tIns="0" rIns="0" bIns="0" rtlCol="0" anchor="ctr"/>
          <a:lstStyle/>
          <a:p>
            <a:pPr indent="0" marL="0">
              <a:buNone/>
            </a:pPr>
            <a:r>
              <a:rPr lang="en-US" sz="1100" dirty="0">
                <a:solidFill>
                  <a:srgbClr val="BDC3C7"/>
                </a:solidFill>
                <a:latin typeface="Calibri" pitchFamily="34" charset="0"/>
                <a:ea typeface="Calibri" pitchFamily="34" charset="-122"/>
                <a:cs typeface="Calibri" pitchFamily="34" charset="-120"/>
              </a:rPr>
              <a:t>A* is the only algorithm that is simultaneously optimal, informed, and extensible to emergency routing.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1ABC9C"/>
          </a:solidFill>
          <a:ln w="12700">
            <a:solidFill>
              <a:srgbClr val="1ABC9C"/>
            </a:solidFill>
            <a:prstDash val="solid"/>
          </a:ln>
        </p:spPr>
      </p:sp>
      <p:sp>
        <p:nvSpPr>
          <p:cNvPr id="3" name="Text 1"/>
          <p:cNvSpPr/>
          <p:nvPr/>
        </p:nvSpPr>
        <p:spPr>
          <a:xfrm>
            <a:off x="548640" y="182880"/>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Conclusion &amp; Lessons Learned</a:t>
            </a:r>
            <a:endParaRPr lang="en-US" sz="2800" dirty="0"/>
          </a:p>
        </p:txBody>
      </p:sp>
      <p:sp>
        <p:nvSpPr>
          <p:cNvPr id="4" name="Shape 2"/>
          <p:cNvSpPr/>
          <p:nvPr/>
        </p:nvSpPr>
        <p:spPr>
          <a:xfrm>
            <a:off x="548640" y="960120"/>
            <a:ext cx="4160520" cy="868680"/>
          </a:xfrm>
          <a:prstGeom prst="rect">
            <a:avLst/>
          </a:prstGeom>
          <a:solidFill>
            <a:srgbClr val="132337"/>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548640" y="960120"/>
            <a:ext cx="64008" cy="868680"/>
          </a:xfrm>
          <a:prstGeom prst="rect">
            <a:avLst/>
          </a:prstGeom>
          <a:solidFill>
            <a:srgbClr val="1ABC9C"/>
          </a:solidFill>
          <a:ln w="12700">
            <a:solidFill>
              <a:srgbClr val="1ABC9C"/>
            </a:solidFill>
            <a:prstDash val="solid"/>
          </a:ln>
        </p:spPr>
      </p:sp>
      <p:pic>
        <p:nvPicPr>
          <p:cNvPr id="6" name="Image 0" descr="preencoded.png">    </p:cNvPr>
          <p:cNvPicPr>
            <a:picLocks noChangeAspect="1"/>
          </p:cNvPicPr>
          <p:nvPr/>
        </p:nvPicPr>
        <p:blipFill>
          <a:blip r:embed="rId1"/>
          <a:stretch>
            <a:fillRect/>
          </a:stretch>
        </p:blipFill>
        <p:spPr>
          <a:xfrm>
            <a:off x="685800" y="1170432"/>
            <a:ext cx="411480" cy="411480"/>
          </a:xfrm>
          <a:prstGeom prst="rect">
            <a:avLst/>
          </a:prstGeom>
        </p:spPr>
      </p:pic>
      <p:sp>
        <p:nvSpPr>
          <p:cNvPr id="7" name="Text 4"/>
          <p:cNvSpPr/>
          <p:nvPr/>
        </p:nvSpPr>
        <p:spPr>
          <a:xfrm>
            <a:off x="1234440" y="1069848"/>
            <a:ext cx="3337560" cy="65836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 is optimal for transport routing when geographic coordinates are available</a:t>
            </a:r>
            <a:endParaRPr lang="en-US" sz="1050" dirty="0"/>
          </a:p>
        </p:txBody>
      </p:sp>
      <p:sp>
        <p:nvSpPr>
          <p:cNvPr id="8" name="Shape 5"/>
          <p:cNvSpPr/>
          <p:nvPr/>
        </p:nvSpPr>
        <p:spPr>
          <a:xfrm>
            <a:off x="4937760" y="960120"/>
            <a:ext cx="4160520" cy="868680"/>
          </a:xfrm>
          <a:prstGeom prst="rect">
            <a:avLst/>
          </a:prstGeom>
          <a:solidFill>
            <a:srgbClr val="132337"/>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9" name="Shape 6"/>
          <p:cNvSpPr/>
          <p:nvPr/>
        </p:nvSpPr>
        <p:spPr>
          <a:xfrm>
            <a:off x="4937760" y="960120"/>
            <a:ext cx="64008" cy="868680"/>
          </a:xfrm>
          <a:prstGeom prst="rect">
            <a:avLst/>
          </a:prstGeom>
          <a:solidFill>
            <a:srgbClr val="1ABC9C"/>
          </a:solidFill>
          <a:ln w="12700">
            <a:solidFill>
              <a:srgbClr val="1ABC9C"/>
            </a:solidFill>
            <a:prstDash val="solid"/>
          </a:ln>
        </p:spPr>
      </p:sp>
      <p:pic>
        <p:nvPicPr>
          <p:cNvPr id="10" name="Image 1" descr="preencoded.png">    </p:cNvPr>
          <p:cNvPicPr>
            <a:picLocks noChangeAspect="1"/>
          </p:cNvPicPr>
          <p:nvPr/>
        </p:nvPicPr>
        <p:blipFill>
          <a:blip r:embed="rId2"/>
          <a:stretch>
            <a:fillRect/>
          </a:stretch>
        </p:blipFill>
        <p:spPr>
          <a:xfrm>
            <a:off x="5074920" y="1170432"/>
            <a:ext cx="411480" cy="411480"/>
          </a:xfrm>
          <a:prstGeom prst="rect">
            <a:avLst/>
          </a:prstGeom>
        </p:spPr>
      </p:pic>
      <p:sp>
        <p:nvSpPr>
          <p:cNvPr id="11" name="Text 7"/>
          <p:cNvSpPr/>
          <p:nvPr/>
        </p:nvSpPr>
        <p:spPr>
          <a:xfrm>
            <a:off x="5623560" y="1069848"/>
            <a:ext cx="3337560" cy="65836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Euclidean heuristic is admissible &amp; consistent — correctness guaranteed</a:t>
            </a:r>
            <a:endParaRPr lang="en-US" sz="1050" dirty="0"/>
          </a:p>
        </p:txBody>
      </p:sp>
      <p:sp>
        <p:nvSpPr>
          <p:cNvPr id="12" name="Shape 8"/>
          <p:cNvSpPr/>
          <p:nvPr/>
        </p:nvSpPr>
        <p:spPr>
          <a:xfrm>
            <a:off x="548640" y="1965960"/>
            <a:ext cx="4160520" cy="868680"/>
          </a:xfrm>
          <a:prstGeom prst="rect">
            <a:avLst/>
          </a:prstGeom>
          <a:solidFill>
            <a:srgbClr val="132337"/>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13" name="Shape 9"/>
          <p:cNvSpPr/>
          <p:nvPr/>
        </p:nvSpPr>
        <p:spPr>
          <a:xfrm>
            <a:off x="548640" y="1965960"/>
            <a:ext cx="64008" cy="868680"/>
          </a:xfrm>
          <a:prstGeom prst="rect">
            <a:avLst/>
          </a:prstGeom>
          <a:solidFill>
            <a:srgbClr val="E74C3C"/>
          </a:solidFill>
          <a:ln w="12700">
            <a:solidFill>
              <a:srgbClr val="E74C3C"/>
            </a:solidFill>
            <a:prstDash val="solid"/>
          </a:ln>
        </p:spPr>
      </p:sp>
      <p:pic>
        <p:nvPicPr>
          <p:cNvPr id="14" name="Image 2" descr="preencoded.png">    </p:cNvPr>
          <p:cNvPicPr>
            <a:picLocks noChangeAspect="1"/>
          </p:cNvPicPr>
          <p:nvPr/>
        </p:nvPicPr>
        <p:blipFill>
          <a:blip r:embed="rId3"/>
          <a:stretch>
            <a:fillRect/>
          </a:stretch>
        </p:blipFill>
        <p:spPr>
          <a:xfrm>
            <a:off x="685800" y="2176272"/>
            <a:ext cx="411480" cy="411480"/>
          </a:xfrm>
          <a:prstGeom prst="rect">
            <a:avLst/>
          </a:prstGeom>
        </p:spPr>
      </p:pic>
      <p:sp>
        <p:nvSpPr>
          <p:cNvPr id="15" name="Text 10"/>
          <p:cNvSpPr/>
          <p:nvPr/>
        </p:nvSpPr>
        <p:spPr>
          <a:xfrm>
            <a:off x="1234440" y="2075688"/>
            <a:ext cx="3337560" cy="65836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Priority-aware A* extends cleanly to emergency routing without losing guarantees</a:t>
            </a:r>
            <a:endParaRPr lang="en-US" sz="1050" dirty="0"/>
          </a:p>
        </p:txBody>
      </p:sp>
      <p:sp>
        <p:nvSpPr>
          <p:cNvPr id="16" name="Shape 11"/>
          <p:cNvSpPr/>
          <p:nvPr/>
        </p:nvSpPr>
        <p:spPr>
          <a:xfrm>
            <a:off x="4937760" y="1965960"/>
            <a:ext cx="4160520" cy="868680"/>
          </a:xfrm>
          <a:prstGeom prst="rect">
            <a:avLst/>
          </a:prstGeom>
          <a:solidFill>
            <a:srgbClr val="132337"/>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17" name="Shape 12"/>
          <p:cNvSpPr/>
          <p:nvPr/>
        </p:nvSpPr>
        <p:spPr>
          <a:xfrm>
            <a:off x="4937760" y="1965960"/>
            <a:ext cx="64008" cy="868680"/>
          </a:xfrm>
          <a:prstGeom prst="rect">
            <a:avLst/>
          </a:prstGeom>
          <a:solidFill>
            <a:srgbClr val="3498DB"/>
          </a:solidFill>
          <a:ln w="12700">
            <a:solidFill>
              <a:srgbClr val="3498DB"/>
            </a:solidFill>
            <a:prstDash val="solid"/>
          </a:ln>
        </p:spPr>
      </p:sp>
      <p:pic>
        <p:nvPicPr>
          <p:cNvPr id="18" name="Image 3" descr="preencoded.png">    </p:cNvPr>
          <p:cNvPicPr>
            <a:picLocks noChangeAspect="1"/>
          </p:cNvPicPr>
          <p:nvPr/>
        </p:nvPicPr>
        <p:blipFill>
          <a:blip r:embed="rId4"/>
          <a:stretch>
            <a:fillRect/>
          </a:stretch>
        </p:blipFill>
        <p:spPr>
          <a:xfrm>
            <a:off x="5074920" y="2176272"/>
            <a:ext cx="411480" cy="411480"/>
          </a:xfrm>
          <a:prstGeom prst="rect">
            <a:avLst/>
          </a:prstGeom>
        </p:spPr>
      </p:pic>
      <p:sp>
        <p:nvSpPr>
          <p:cNvPr id="19" name="Text 13"/>
          <p:cNvSpPr/>
          <p:nvPr/>
        </p:nvSpPr>
        <p:spPr>
          <a:xfrm>
            <a:off x="5623560" y="2075688"/>
            <a:ext cx="3337560" cy="65836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 outperforms Dijkstra in efficiency; outperforms Greedy in solution quality</a:t>
            </a:r>
            <a:endParaRPr lang="en-US" sz="1050" dirty="0"/>
          </a:p>
        </p:txBody>
      </p:sp>
      <p:sp>
        <p:nvSpPr>
          <p:cNvPr id="20" name="Text 14"/>
          <p:cNvSpPr/>
          <p:nvPr/>
        </p:nvSpPr>
        <p:spPr>
          <a:xfrm>
            <a:off x="548640" y="3063240"/>
            <a:ext cx="3657600" cy="347472"/>
          </a:xfrm>
          <a:prstGeom prst="rect">
            <a:avLst/>
          </a:prstGeom>
          <a:noFill/>
          <a:ln/>
        </p:spPr>
        <p:txBody>
          <a:bodyPr wrap="square" lIns="0" tIns="0" rIns="0" bIns="0" rtlCol="0" anchor="ctr"/>
          <a:lstStyle/>
          <a:p>
            <a:pPr indent="0" marL="0">
              <a:buNone/>
            </a:pPr>
            <a:r>
              <a:rPr lang="en-US" sz="1400" b="1" dirty="0">
                <a:solidFill>
                  <a:srgbClr val="1ABC9C"/>
                </a:solidFill>
                <a:latin typeface="Calibri" pitchFamily="34" charset="0"/>
                <a:ea typeface="Calibri" pitchFamily="34" charset="-122"/>
                <a:cs typeface="Calibri" pitchFamily="34" charset="-120"/>
              </a:rPr>
              <a:t>Lessons Learned</a:t>
            </a:r>
            <a:endParaRPr lang="en-US" sz="1400" dirty="0"/>
          </a:p>
        </p:txBody>
      </p:sp>
      <p:sp>
        <p:nvSpPr>
          <p:cNvPr id="21" name="Text 15"/>
          <p:cNvSpPr/>
          <p:nvPr/>
        </p:nvSpPr>
        <p:spPr>
          <a:xfrm>
            <a:off x="548640" y="3456432"/>
            <a:ext cx="4114800" cy="292608"/>
          </a:xfrm>
          <a:prstGeom prst="rect">
            <a:avLst/>
          </a:prstGeom>
          <a:noFill/>
          <a:ln/>
        </p:spPr>
        <p:txBody>
          <a:bodyPr wrap="square" lIns="0" tIns="0" rIns="0" bIns="0" rtlCol="0" anchor="ctr"/>
          <a:lstStyle/>
          <a:p>
            <a:pPr indent="0" marL="0">
              <a:buNone/>
            </a:pPr>
            <a:r>
              <a:rPr lang="en-US" sz="1050" dirty="0">
                <a:solidFill>
                  <a:srgbClr val="BDC3C7"/>
                </a:solidFill>
                <a:latin typeface="Calibri" pitchFamily="34" charset="0"/>
                <a:ea typeface="Calibri" pitchFamily="34" charset="-122"/>
                <a:cs typeface="Calibri" pitchFamily="34" charset="-120"/>
              </a:rPr>
              <a:t>▸  Heuristic design is the most critical A* decision</a:t>
            </a:r>
            <a:endParaRPr lang="en-US" sz="1050" dirty="0"/>
          </a:p>
        </p:txBody>
      </p:sp>
      <p:sp>
        <p:nvSpPr>
          <p:cNvPr id="22" name="Text 16"/>
          <p:cNvSpPr/>
          <p:nvPr/>
        </p:nvSpPr>
        <p:spPr>
          <a:xfrm>
            <a:off x="548640" y="3767328"/>
            <a:ext cx="4114800" cy="292608"/>
          </a:xfrm>
          <a:prstGeom prst="rect">
            <a:avLst/>
          </a:prstGeom>
          <a:noFill/>
          <a:ln/>
        </p:spPr>
        <p:txBody>
          <a:bodyPr wrap="square" lIns="0" tIns="0" rIns="0" bIns="0" rtlCol="0" anchor="ctr"/>
          <a:lstStyle/>
          <a:p>
            <a:pPr indent="0" marL="0">
              <a:buNone/>
            </a:pPr>
            <a:r>
              <a:rPr lang="en-US" sz="1050" dirty="0">
                <a:solidFill>
                  <a:srgbClr val="BDC3C7"/>
                </a:solidFill>
                <a:latin typeface="Calibri" pitchFamily="34" charset="0"/>
                <a:ea typeface="Calibri" pitchFamily="34" charset="-122"/>
                <a:cs typeface="Calibri" pitchFamily="34" charset="-120"/>
              </a:rPr>
              <a:t>▸  Modify the graph, not the algorithm, for domain adaptation</a:t>
            </a:r>
            <a:endParaRPr lang="en-US" sz="1050" dirty="0"/>
          </a:p>
        </p:txBody>
      </p:sp>
      <p:sp>
        <p:nvSpPr>
          <p:cNvPr id="23" name="Text 17"/>
          <p:cNvSpPr/>
          <p:nvPr/>
        </p:nvSpPr>
        <p:spPr>
          <a:xfrm>
            <a:off x="548640" y="4078224"/>
            <a:ext cx="4114800" cy="292608"/>
          </a:xfrm>
          <a:prstGeom prst="rect">
            <a:avLst/>
          </a:prstGeom>
          <a:noFill/>
          <a:ln/>
        </p:spPr>
        <p:txBody>
          <a:bodyPr wrap="square" lIns="0" tIns="0" rIns="0" bIns="0" rtlCol="0" anchor="ctr"/>
          <a:lstStyle/>
          <a:p>
            <a:pPr indent="0" marL="0">
              <a:buNone/>
            </a:pPr>
            <a:r>
              <a:rPr lang="en-US" sz="1050" dirty="0">
                <a:solidFill>
                  <a:srgbClr val="BDC3C7"/>
                </a:solidFill>
                <a:latin typeface="Calibri" pitchFamily="34" charset="0"/>
                <a:ea typeface="Calibri" pitchFamily="34" charset="-122"/>
                <a:cs typeface="Calibri" pitchFamily="34" charset="-120"/>
              </a:rPr>
              <a:t>▸  Algorithm selection must match problem structure — not just worst-case complexity</a:t>
            </a:r>
            <a:endParaRPr lang="en-US" sz="1050" dirty="0"/>
          </a:p>
        </p:txBody>
      </p:sp>
      <p:sp>
        <p:nvSpPr>
          <p:cNvPr id="24" name="Shape 18"/>
          <p:cNvSpPr/>
          <p:nvPr/>
        </p:nvSpPr>
        <p:spPr>
          <a:xfrm>
            <a:off x="4937760" y="3017520"/>
            <a:ext cx="3749040" cy="1874520"/>
          </a:xfrm>
          <a:prstGeom prst="rect">
            <a:avLst/>
          </a:prstGeom>
          <a:solidFill>
            <a:srgbClr val="132337"/>
          </a:solidFill>
          <a:ln w="6350">
            <a:solidFill>
              <a:srgbClr val="E0E6ED"/>
            </a:solidFill>
            <a:prstDash val="solid"/>
          </a:ln>
          <a:effectLst>
            <a:outerShdw sx="100000" sy="100000" kx="0" ky="0" algn="bl" rotWithShape="0" blurRad="101600" dist="38100" dir="8100000">
              <a:srgbClr val="000000">
                <a:alpha val="12000"/>
              </a:srgbClr>
            </a:outerShdw>
          </a:effectLst>
        </p:spPr>
      </p:sp>
      <p:sp>
        <p:nvSpPr>
          <p:cNvPr id="25" name="Text 19"/>
          <p:cNvSpPr/>
          <p:nvPr/>
        </p:nvSpPr>
        <p:spPr>
          <a:xfrm>
            <a:off x="5120640" y="3090672"/>
            <a:ext cx="3383280" cy="347472"/>
          </a:xfrm>
          <a:prstGeom prst="rect">
            <a:avLst/>
          </a:prstGeom>
          <a:noFill/>
          <a:ln/>
        </p:spPr>
        <p:txBody>
          <a:bodyPr wrap="square" lIns="0" tIns="0" rIns="0" bIns="0" rtlCol="0" anchor="ctr"/>
          <a:lstStyle/>
          <a:p>
            <a:pPr indent="0" marL="0">
              <a:buNone/>
            </a:pPr>
            <a:r>
              <a:rPr lang="en-US" sz="1300" b="1" dirty="0">
                <a:solidFill>
                  <a:srgbClr val="E67E22"/>
                </a:solidFill>
                <a:latin typeface="Calibri" pitchFamily="34" charset="0"/>
                <a:ea typeface="Calibri" pitchFamily="34" charset="-122"/>
                <a:cs typeface="Calibri" pitchFamily="34" charset="-120"/>
              </a:rPr>
              <a:t>Future Work</a:t>
            </a:r>
            <a:endParaRPr lang="en-US" sz="1300" dirty="0"/>
          </a:p>
        </p:txBody>
      </p:sp>
      <p:sp>
        <p:nvSpPr>
          <p:cNvPr id="26" name="Text 20"/>
          <p:cNvSpPr/>
          <p:nvPr/>
        </p:nvSpPr>
        <p:spPr>
          <a:xfrm>
            <a:off x="5120640" y="3520440"/>
            <a:ext cx="3383280" cy="347472"/>
          </a:xfrm>
          <a:prstGeom prst="rect">
            <a:avLst/>
          </a:prstGeom>
          <a:noFill/>
          <a:ln/>
        </p:spPr>
        <p:txBody>
          <a:bodyPr wrap="square" lIns="0" tIns="0" rIns="0" bIns="0" rtlCol="0" anchor="ctr"/>
          <a:lstStyle/>
          <a:p>
            <a:pPr indent="0" marL="0">
              <a:buNone/>
            </a:pPr>
            <a:r>
              <a:rPr lang="en-US" sz="1050" dirty="0">
                <a:solidFill>
                  <a:srgbClr val="BDC3C7"/>
                </a:solidFill>
                <a:latin typeface="Calibri" pitchFamily="34" charset="0"/>
                <a:ea typeface="Calibri" pitchFamily="34" charset="-122"/>
                <a:cs typeface="Calibri" pitchFamily="34" charset="-120"/>
              </a:rPr>
              <a:t>◆  Road-network heuristic (Manhattan for grid areas)</a:t>
            </a:r>
            <a:endParaRPr lang="en-US" sz="1050" dirty="0"/>
          </a:p>
        </p:txBody>
      </p:sp>
      <p:sp>
        <p:nvSpPr>
          <p:cNvPr id="27" name="Text 21"/>
          <p:cNvSpPr/>
          <p:nvPr/>
        </p:nvSpPr>
        <p:spPr>
          <a:xfrm>
            <a:off x="5120640" y="3904488"/>
            <a:ext cx="3383280" cy="347472"/>
          </a:xfrm>
          <a:prstGeom prst="rect">
            <a:avLst/>
          </a:prstGeom>
          <a:noFill/>
          <a:ln/>
        </p:spPr>
        <p:txBody>
          <a:bodyPr wrap="square" lIns="0" tIns="0" rIns="0" bIns="0" rtlCol="0" anchor="ctr"/>
          <a:lstStyle/>
          <a:p>
            <a:pPr indent="0" marL="0">
              <a:buNone/>
            </a:pPr>
            <a:r>
              <a:rPr lang="en-US" sz="1050" dirty="0">
                <a:solidFill>
                  <a:srgbClr val="BDC3C7"/>
                </a:solidFill>
                <a:latin typeface="Calibri" pitchFamily="34" charset="0"/>
                <a:ea typeface="Calibri" pitchFamily="34" charset="-122"/>
                <a:cs typeface="Calibri" pitchFamily="34" charset="-120"/>
              </a:rPr>
              <a:t>◆  Scale to full Cairo road dataset</a:t>
            </a:r>
            <a:endParaRPr lang="en-US" sz="1050" dirty="0"/>
          </a:p>
        </p:txBody>
      </p:sp>
      <p:sp>
        <p:nvSpPr>
          <p:cNvPr id="28" name="Text 22"/>
          <p:cNvSpPr/>
          <p:nvPr/>
        </p:nvSpPr>
        <p:spPr>
          <a:xfrm>
            <a:off x="5120640" y="4288536"/>
            <a:ext cx="3383280" cy="347472"/>
          </a:xfrm>
          <a:prstGeom prst="rect">
            <a:avLst/>
          </a:prstGeom>
          <a:noFill/>
          <a:ln/>
        </p:spPr>
        <p:txBody>
          <a:bodyPr wrap="square" lIns="0" tIns="0" rIns="0" bIns="0" rtlCol="0" anchor="ctr"/>
          <a:lstStyle/>
          <a:p>
            <a:pPr indent="0" marL="0">
              <a:buNone/>
            </a:pPr>
            <a:r>
              <a:rPr lang="en-US" sz="1050" dirty="0">
                <a:solidFill>
                  <a:srgbClr val="BDC3C7"/>
                </a:solidFill>
                <a:latin typeface="Calibri" pitchFamily="34" charset="0"/>
                <a:ea typeface="Calibri" pitchFamily="34" charset="-122"/>
                <a:cs typeface="Calibri" pitchFamily="34" charset="-120"/>
              </a:rPr>
              <a:t>◆  Real-time traffic weight updates</a:t>
            </a:r>
            <a:endParaRPr lang="en-US" sz="1050" dirty="0"/>
          </a:p>
        </p:txBody>
      </p:sp>
      <p:sp>
        <p:nvSpPr>
          <p:cNvPr id="29" name="Text 23"/>
          <p:cNvSpPr/>
          <p:nvPr/>
        </p:nvSpPr>
        <p:spPr>
          <a:xfrm>
            <a:off x="548640" y="4754880"/>
            <a:ext cx="8229600" cy="256032"/>
          </a:xfrm>
          <a:prstGeom prst="rect">
            <a:avLst/>
          </a:prstGeom>
          <a:noFill/>
          <a:ln/>
        </p:spPr>
        <p:txBody>
          <a:bodyPr wrap="square" lIns="0" tIns="0" rIns="0" bIns="0" rtlCol="0" anchor="ctr"/>
          <a:lstStyle/>
          <a:p>
            <a:pPr indent="0" marL="0">
              <a:buNone/>
            </a:pPr>
            <a:r>
              <a:rPr lang="en-US" sz="1100" i="1" dirty="0">
                <a:solidFill>
                  <a:srgbClr val="7F8C8D"/>
                </a:solidFill>
                <a:latin typeface="Calibri" pitchFamily="34" charset="0"/>
                <a:ea typeface="Calibri" pitchFamily="34" charset="-122"/>
                <a:cs typeface="Calibri" pitchFamily="34" charset="-120"/>
              </a:rPr>
              <a:t>Thank you — Questions welcome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in Cairo Transportation System — CSE112</dc:title>
  <dc:subject>PptxGenJS Presentation</dc:subject>
  <dc:creator>CSE112 Project</dc:creator>
  <cp:lastModifiedBy>CSE112 Project</cp:lastModifiedBy>
  <cp:revision>1</cp:revision>
  <dcterms:created xsi:type="dcterms:W3CDTF">2026-05-11T19:38:40Z</dcterms:created>
  <dcterms:modified xsi:type="dcterms:W3CDTF">2026-05-11T19:38:40Z</dcterms:modified>
</cp:coreProperties>
</file>